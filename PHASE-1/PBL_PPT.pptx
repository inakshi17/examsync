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5765800" cy="3244850"/>
  <p:notesSz cx="5765800" cy="3244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09194" y="889664"/>
            <a:ext cx="2453640" cy="19850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018497" y="889664"/>
            <a:ext cx="2195195" cy="1696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99392" y="72605"/>
            <a:ext cx="223202" cy="22320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37858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1304" y="1289880"/>
            <a:ext cx="2340610" cy="1442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12402" y="3133522"/>
            <a:ext cx="25303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#</a:t>
            </a:fld>
            <a:r>
              <a:rPr dirty="0" spc="-20"/>
              <a:t>/10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www.ijfmr.com/research-" TargetMode="Externa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 h="0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89334" y="174758"/>
            <a:ext cx="359949" cy="35994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2378" y="819694"/>
            <a:ext cx="4474845" cy="4032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450" spc="60"/>
              <a:t>PROJECT-</a:t>
            </a:r>
            <a:r>
              <a:rPr dirty="0" sz="2450" spc="65"/>
              <a:t>BASED</a:t>
            </a:r>
            <a:r>
              <a:rPr dirty="0" sz="2450" spc="-345"/>
              <a:t> </a:t>
            </a:r>
            <a:r>
              <a:rPr dirty="0" sz="2450" spc="-10"/>
              <a:t>LEARNING</a:t>
            </a:r>
            <a:endParaRPr sz="2450"/>
          </a:p>
        </p:txBody>
      </p:sp>
      <p:sp>
        <p:nvSpPr>
          <p:cNvPr id="5" name="object 5"/>
          <p:cNvSpPr txBox="1"/>
          <p:nvPr/>
        </p:nvSpPr>
        <p:spPr>
          <a:xfrm>
            <a:off x="1487779" y="1195928"/>
            <a:ext cx="2785110" cy="97599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1700">
                <a:latin typeface="Trebuchet MS"/>
                <a:cs typeface="Trebuchet MS"/>
              </a:rPr>
              <a:t>PHASE-I</a:t>
            </a:r>
            <a:r>
              <a:rPr dirty="0" sz="1700" spc="25">
                <a:latin typeface="Trebuchet MS"/>
                <a:cs typeface="Trebuchet MS"/>
              </a:rPr>
              <a:t> </a:t>
            </a:r>
            <a:r>
              <a:rPr dirty="0" sz="1700" spc="-10">
                <a:latin typeface="Trebuchet MS"/>
                <a:cs typeface="Trebuchet MS"/>
              </a:rPr>
              <a:t>EVALUATION</a:t>
            </a:r>
            <a:endParaRPr sz="17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00"/>
              </a:spcBef>
            </a:pPr>
            <a:r>
              <a:rPr dirty="0" sz="1400" spc="-55" b="1">
                <a:solidFill>
                  <a:srgbClr val="595959"/>
                </a:solidFill>
                <a:latin typeface="Tahoma"/>
                <a:cs typeface="Tahoma"/>
              </a:rPr>
              <a:t>Automated</a:t>
            </a:r>
            <a:r>
              <a:rPr dirty="0" sz="14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75" b="1">
                <a:solidFill>
                  <a:srgbClr val="595959"/>
                </a:solidFill>
                <a:latin typeface="Tahoma"/>
                <a:cs typeface="Tahoma"/>
              </a:rPr>
              <a:t>Exam</a:t>
            </a:r>
            <a:r>
              <a:rPr dirty="0" sz="1400" spc="-25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70" b="1">
                <a:solidFill>
                  <a:srgbClr val="595959"/>
                </a:solidFill>
                <a:latin typeface="Tahoma"/>
                <a:cs typeface="Tahoma"/>
              </a:rPr>
              <a:t>Seating</a:t>
            </a:r>
            <a:r>
              <a:rPr dirty="0" sz="1400" spc="-30" b="1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dirty="0" sz="1400" spc="-40" b="1">
                <a:solidFill>
                  <a:srgbClr val="595959"/>
                </a:solidFill>
                <a:latin typeface="Tahoma"/>
                <a:cs typeface="Tahoma"/>
              </a:rPr>
              <a:t>System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25"/>
              </a:spcBef>
            </a:pPr>
            <a:r>
              <a:rPr dirty="0" sz="1100" spc="-3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dirty="0" sz="1100" spc="1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4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dirty="0" sz="1100" spc="15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100" spc="-65" i="1">
                <a:solidFill>
                  <a:srgbClr val="595959"/>
                </a:solidFill>
                <a:latin typeface="Arial"/>
                <a:cs typeface="Arial"/>
              </a:rPr>
              <a:t>DSCPP-</a:t>
            </a:r>
            <a:r>
              <a:rPr dirty="0" sz="1100" spc="-10" i="1">
                <a:solidFill>
                  <a:srgbClr val="595959"/>
                </a:solidFill>
                <a:latin typeface="Arial"/>
                <a:cs typeface="Arial"/>
              </a:rPr>
              <a:t>III-</a:t>
            </a:r>
            <a:r>
              <a:rPr dirty="0" sz="1100" spc="-45" i="1">
                <a:solidFill>
                  <a:srgbClr val="595959"/>
                </a:solidFill>
                <a:latin typeface="Arial"/>
                <a:cs typeface="Arial"/>
              </a:rPr>
              <a:t>2026-</a:t>
            </a:r>
            <a:r>
              <a:rPr dirty="0" sz="1100" spc="-20" i="1">
                <a:solidFill>
                  <a:srgbClr val="595959"/>
                </a:solidFill>
                <a:latin typeface="Arial"/>
                <a:cs typeface="Arial"/>
              </a:rPr>
              <a:t>T079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1100" spc="-65" b="1">
                <a:latin typeface="Tahoma"/>
                <a:cs typeface="Tahoma"/>
              </a:rPr>
              <a:t>Department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10" b="1">
                <a:latin typeface="Tahoma"/>
                <a:cs typeface="Tahoma"/>
              </a:rPr>
              <a:t>of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spc="-60" b="1">
                <a:latin typeface="Tahoma"/>
                <a:cs typeface="Tahoma"/>
              </a:rPr>
              <a:t>Computer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55" b="1">
                <a:latin typeface="Tahoma"/>
                <a:cs typeface="Tahoma"/>
              </a:rPr>
              <a:t>Science</a:t>
            </a:r>
            <a:r>
              <a:rPr dirty="0" sz="1100" spc="15" b="1">
                <a:latin typeface="Tahoma"/>
                <a:cs typeface="Tahoma"/>
              </a:rPr>
              <a:t> </a:t>
            </a:r>
            <a:r>
              <a:rPr dirty="0" sz="1100" b="1">
                <a:latin typeface="Tahoma"/>
                <a:cs typeface="Tahoma"/>
              </a:rPr>
              <a:t>&amp;</a:t>
            </a:r>
            <a:r>
              <a:rPr dirty="0" sz="1100" spc="10" b="1">
                <a:latin typeface="Tahoma"/>
                <a:cs typeface="Tahoma"/>
              </a:rPr>
              <a:t> </a:t>
            </a:r>
            <a:r>
              <a:rPr dirty="0" sz="1100" spc="-50" b="1">
                <a:latin typeface="Tahoma"/>
                <a:cs typeface="Tahoma"/>
              </a:rPr>
              <a:t>Engineering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1100" spc="-25">
                <a:latin typeface="Tahoma"/>
                <a:cs typeface="Tahoma"/>
              </a:rPr>
              <a:t>Graphic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Era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45">
                <a:latin typeface="Tahoma"/>
                <a:cs typeface="Tahoma"/>
              </a:rPr>
              <a:t>(Deemed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>
                <a:latin typeface="Tahoma"/>
                <a:cs typeface="Tahoma"/>
              </a:rPr>
              <a:t>to</a:t>
            </a:r>
            <a:r>
              <a:rPr dirty="0" sz="1100" spc="-35">
                <a:latin typeface="Tahoma"/>
                <a:cs typeface="Tahoma"/>
              </a:rPr>
              <a:t> </a:t>
            </a:r>
            <a:r>
              <a:rPr dirty="0" sz="1100" spc="-10">
                <a:latin typeface="Tahoma"/>
                <a:cs typeface="Tahoma"/>
              </a:rPr>
              <a:t>be</a:t>
            </a:r>
            <a:r>
              <a:rPr dirty="0" sz="1100" spc="-30">
                <a:latin typeface="Tahoma"/>
                <a:cs typeface="Tahoma"/>
              </a:rPr>
              <a:t> </a:t>
            </a:r>
            <a:r>
              <a:rPr dirty="0" sz="1100" spc="-25">
                <a:latin typeface="Tahoma"/>
                <a:cs typeface="Tahoma"/>
              </a:rPr>
              <a:t>University), </a:t>
            </a:r>
            <a:r>
              <a:rPr dirty="0" sz="1100" spc="-1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dirty="0" sz="800" spc="-10">
                <a:latin typeface="Arial"/>
                <a:cs typeface="Arial"/>
              </a:rPr>
              <a:t>Academic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40">
                <a:latin typeface="Arial"/>
                <a:cs typeface="Arial"/>
              </a:rPr>
              <a:t>Session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 spc="-35">
                <a:latin typeface="Arial"/>
                <a:cs typeface="Arial"/>
              </a:rPr>
              <a:t>2026–</a:t>
            </a:r>
            <a:r>
              <a:rPr dirty="0" sz="800" spc="-25">
                <a:latin typeface="Arial"/>
                <a:cs typeface="Arial"/>
              </a:rPr>
              <a:t>27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5"/>
              <a:t>Team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5"/>
              <a:t> </a:t>
            </a:r>
            <a:r>
              <a:rPr dirty="0" spc="-20"/>
              <a:t>Mentor</a:t>
            </a:r>
            <a:r>
              <a:rPr dirty="0" spc="20"/>
              <a:t> </a:t>
            </a:r>
            <a:r>
              <a:rPr dirty="0" spc="-45"/>
              <a:t>Details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198714"/>
            <a:ext cx="2420620" cy="187960"/>
          </a:xfrm>
          <a:custGeom>
            <a:avLst/>
            <a:gdLst/>
            <a:ahLst/>
            <a:cxnLst/>
            <a:rect l="l" t="t" r="r" b="b"/>
            <a:pathLst>
              <a:path w="2420620" h="187959">
                <a:moveTo>
                  <a:pt x="236926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420064" y="187823"/>
                </a:lnTo>
                <a:lnTo>
                  <a:pt x="2420064" y="50800"/>
                </a:lnTo>
                <a:lnTo>
                  <a:pt x="2416056" y="31075"/>
                </a:lnTo>
                <a:lnTo>
                  <a:pt x="2405142" y="14922"/>
                </a:lnTo>
                <a:lnTo>
                  <a:pt x="2388989" y="4008"/>
                </a:lnTo>
                <a:lnTo>
                  <a:pt x="2369264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177719"/>
            <a:ext cx="112966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Calibri"/>
                <a:cs typeface="Calibri"/>
              </a:rPr>
              <a:t>Team</a:t>
            </a:r>
            <a:r>
              <a:rPr dirty="0" sz="1200" spc="75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33768"/>
                </a:solidFill>
                <a:latin typeface="Calibri"/>
                <a:cs typeface="Calibri"/>
              </a:rPr>
              <a:t>Information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373886"/>
            <a:ext cx="2420620" cy="922655"/>
            <a:chOff x="309193" y="1373886"/>
            <a:chExt cx="2420620" cy="92265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373886"/>
              <a:ext cx="2420064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418161"/>
              <a:ext cx="2420620" cy="878205"/>
            </a:xfrm>
            <a:custGeom>
              <a:avLst/>
              <a:gdLst/>
              <a:ahLst/>
              <a:cxnLst/>
              <a:rect l="l" t="t" r="r" b="b"/>
              <a:pathLst>
                <a:path w="2420620" h="878205">
                  <a:moveTo>
                    <a:pt x="2420064" y="0"/>
                  </a:moveTo>
                  <a:lnTo>
                    <a:pt x="0" y="0"/>
                  </a:lnTo>
                  <a:lnTo>
                    <a:pt x="0" y="827351"/>
                  </a:lnTo>
                  <a:lnTo>
                    <a:pt x="4008" y="847076"/>
                  </a:lnTo>
                  <a:lnTo>
                    <a:pt x="14922" y="863228"/>
                  </a:lnTo>
                  <a:lnTo>
                    <a:pt x="31075" y="874143"/>
                  </a:lnTo>
                  <a:lnTo>
                    <a:pt x="50800" y="878151"/>
                  </a:lnTo>
                  <a:lnTo>
                    <a:pt x="2369264" y="878151"/>
                  </a:lnTo>
                  <a:lnTo>
                    <a:pt x="2388989" y="874143"/>
                  </a:lnTo>
                  <a:lnTo>
                    <a:pt x="2405142" y="863228"/>
                  </a:lnTo>
                  <a:lnTo>
                    <a:pt x="2416056" y="847076"/>
                  </a:lnTo>
                  <a:lnTo>
                    <a:pt x="2420064" y="827351"/>
                  </a:lnTo>
                  <a:lnTo>
                    <a:pt x="2420064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347294" y="1403699"/>
            <a:ext cx="597535" cy="723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000" spc="-35" b="1">
                <a:latin typeface="Tahoma"/>
                <a:cs typeface="Tahoma"/>
              </a:rPr>
              <a:t>Team</a:t>
            </a:r>
            <a:r>
              <a:rPr dirty="0" sz="1000" spc="-30" b="1">
                <a:latin typeface="Tahoma"/>
                <a:cs typeface="Tahoma"/>
              </a:rPr>
              <a:t> </a:t>
            </a:r>
            <a:r>
              <a:rPr dirty="0" sz="1000" spc="-25" b="1">
                <a:latin typeface="Tahoma"/>
                <a:cs typeface="Tahoma"/>
              </a:rPr>
              <a:t>ID: </a:t>
            </a:r>
            <a:r>
              <a:rPr dirty="0" sz="1000" spc="-80" b="1">
                <a:latin typeface="Tahoma"/>
                <a:cs typeface="Tahoma"/>
              </a:rPr>
              <a:t>Semester: </a:t>
            </a:r>
            <a:r>
              <a:rPr dirty="0" sz="1000" spc="-10" b="1">
                <a:latin typeface="Tahoma"/>
                <a:cs typeface="Tahoma"/>
              </a:rPr>
              <a:t>Section: Domain: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0355" y="1403699"/>
            <a:ext cx="798830" cy="87566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T079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3rd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D,</a:t>
            </a:r>
            <a:r>
              <a:rPr dirty="0" sz="10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A,</a:t>
            </a:r>
            <a:r>
              <a:rPr dirty="0" sz="10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DS1,</a:t>
            </a:r>
            <a:r>
              <a:rPr dirty="0" sz="1000" spc="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50" i="1">
                <a:solidFill>
                  <a:srgbClr val="595959"/>
                </a:solidFill>
                <a:latin typeface="Arial"/>
                <a:cs typeface="Arial"/>
              </a:rPr>
              <a:t>E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Tahoma"/>
                <a:cs typeface="Tahoma"/>
              </a:rPr>
              <a:t>DSA</a:t>
            </a:r>
            <a:r>
              <a:rPr dirty="0" sz="1000" spc="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</a:t>
            </a:r>
            <a:r>
              <a:rPr dirty="0" sz="1000" spc="45">
                <a:latin typeface="Tahoma"/>
                <a:cs typeface="Tahoma"/>
              </a:rPr>
              <a:t> </a:t>
            </a:r>
            <a:r>
              <a:rPr dirty="0" sz="1000" spc="20">
                <a:latin typeface="Tahoma"/>
                <a:cs typeface="Tahoma"/>
              </a:rPr>
              <a:t>&amp; </a:t>
            </a:r>
            <a:r>
              <a:rPr dirty="0" sz="1000">
                <a:latin typeface="Tahoma"/>
                <a:cs typeface="Tahoma"/>
              </a:rPr>
              <a:t>OOPs</a:t>
            </a:r>
            <a:r>
              <a:rPr dirty="0" sz="1000" spc="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C++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29203" y="1198714"/>
            <a:ext cx="2621915" cy="187960"/>
          </a:xfrm>
          <a:custGeom>
            <a:avLst/>
            <a:gdLst/>
            <a:ahLst/>
            <a:cxnLst/>
            <a:rect l="l" t="t" r="r" b="b"/>
            <a:pathLst>
              <a:path w="2621915" h="187959">
                <a:moveTo>
                  <a:pt x="2570833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621633" y="187823"/>
                </a:lnTo>
                <a:lnTo>
                  <a:pt x="2621633" y="50800"/>
                </a:lnTo>
                <a:lnTo>
                  <a:pt x="2617625" y="31075"/>
                </a:lnTo>
                <a:lnTo>
                  <a:pt x="2606710" y="14922"/>
                </a:lnTo>
                <a:lnTo>
                  <a:pt x="2590557" y="4008"/>
                </a:lnTo>
                <a:lnTo>
                  <a:pt x="2570833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867304" y="1177719"/>
            <a:ext cx="985519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>
                <a:solidFill>
                  <a:srgbClr val="133768"/>
                </a:solidFill>
                <a:latin typeface="Calibri"/>
                <a:cs typeface="Calibri"/>
              </a:rPr>
              <a:t>Team</a:t>
            </a:r>
            <a:r>
              <a:rPr dirty="0" sz="1200" spc="75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30">
                <a:solidFill>
                  <a:srgbClr val="133768"/>
                </a:solidFill>
                <a:latin typeface="Calibri"/>
                <a:cs typeface="Calibri"/>
              </a:rPr>
              <a:t>Members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829203" y="1373886"/>
            <a:ext cx="2621915" cy="758190"/>
            <a:chOff x="2829203" y="1373886"/>
            <a:chExt cx="2621915" cy="75819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9203" y="1373886"/>
              <a:ext cx="2621633" cy="5060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29203" y="1418156"/>
              <a:ext cx="2621915" cy="713740"/>
            </a:xfrm>
            <a:custGeom>
              <a:avLst/>
              <a:gdLst/>
              <a:ahLst/>
              <a:cxnLst/>
              <a:rect l="l" t="t" r="r" b="b"/>
              <a:pathLst>
                <a:path w="2621915" h="713739">
                  <a:moveTo>
                    <a:pt x="2621633" y="0"/>
                  </a:moveTo>
                  <a:lnTo>
                    <a:pt x="0" y="0"/>
                  </a:lnTo>
                  <a:lnTo>
                    <a:pt x="0" y="662814"/>
                  </a:lnTo>
                  <a:lnTo>
                    <a:pt x="4008" y="682539"/>
                  </a:lnTo>
                  <a:lnTo>
                    <a:pt x="14922" y="698692"/>
                  </a:lnTo>
                  <a:lnTo>
                    <a:pt x="31075" y="709606"/>
                  </a:lnTo>
                  <a:lnTo>
                    <a:pt x="50800" y="713614"/>
                  </a:lnTo>
                  <a:lnTo>
                    <a:pt x="2570833" y="713614"/>
                  </a:lnTo>
                  <a:lnTo>
                    <a:pt x="2590557" y="709606"/>
                  </a:lnTo>
                  <a:lnTo>
                    <a:pt x="2606710" y="698692"/>
                  </a:lnTo>
                  <a:lnTo>
                    <a:pt x="2617625" y="682539"/>
                  </a:lnTo>
                  <a:lnTo>
                    <a:pt x="2621633" y="662814"/>
                  </a:lnTo>
                  <a:lnTo>
                    <a:pt x="2621633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976714" y="1366818"/>
            <a:ext cx="2008505" cy="734060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295"/>
              </a:spcBef>
              <a:buClr>
                <a:srgbClr val="133768"/>
              </a:buClr>
              <a:buFont typeface="Tahoma"/>
              <a:buAutoNum type="arabicPeriod"/>
              <a:tabLst>
                <a:tab pos="179705" algn="l"/>
              </a:tabLst>
            </a:pPr>
            <a:r>
              <a:rPr dirty="0" sz="1000" spc="-75" i="1">
                <a:solidFill>
                  <a:srgbClr val="595959"/>
                </a:solidFill>
                <a:latin typeface="Arial"/>
                <a:cs typeface="Arial"/>
              </a:rPr>
              <a:t>Shreeya</a:t>
            </a:r>
            <a:r>
              <a:rPr dirty="0" sz="10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Sharma</a:t>
            </a:r>
            <a:r>
              <a:rPr dirty="0" sz="1000" spc="3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000" spc="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2510011488</a:t>
            </a:r>
            <a:endParaRPr sz="100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spcBef>
                <a:spcPts val="195"/>
              </a:spcBef>
              <a:buClr>
                <a:srgbClr val="133768"/>
              </a:buClr>
              <a:buFont typeface="Tahoma"/>
              <a:buAutoNum type="arabicPeriod"/>
              <a:tabLst>
                <a:tab pos="179705" algn="l"/>
              </a:tabLst>
            </a:pP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Rincy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2510010306</a:t>
            </a:r>
            <a:endParaRPr sz="100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spcBef>
                <a:spcPts val="195"/>
              </a:spcBef>
              <a:buClr>
                <a:srgbClr val="133768"/>
              </a:buClr>
              <a:buFont typeface="Tahoma"/>
              <a:buAutoNum type="arabicPeriod"/>
              <a:tabLst>
                <a:tab pos="179705" algn="l"/>
              </a:tabLst>
            </a:pP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Inakshi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30" i="1">
                <a:solidFill>
                  <a:srgbClr val="595959"/>
                </a:solidFill>
                <a:latin typeface="Arial"/>
                <a:cs typeface="Arial"/>
              </a:rPr>
              <a:t>Bahukhandi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000" spc="-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5" i="1">
                <a:solidFill>
                  <a:srgbClr val="595959"/>
                </a:solidFill>
                <a:latin typeface="Arial"/>
                <a:cs typeface="Arial"/>
              </a:rPr>
              <a:t>2512520002</a:t>
            </a:r>
            <a:endParaRPr sz="1000">
              <a:latin typeface="Arial"/>
              <a:cs typeface="Arial"/>
            </a:endParaRPr>
          </a:p>
          <a:p>
            <a:pPr marL="179705" indent="-167005">
              <a:lnSpc>
                <a:spcPct val="100000"/>
              </a:lnSpc>
              <a:spcBef>
                <a:spcPts val="195"/>
              </a:spcBef>
              <a:buClr>
                <a:srgbClr val="133768"/>
              </a:buClr>
              <a:buFont typeface="Tahoma"/>
              <a:buAutoNum type="arabicPeriod"/>
              <a:tabLst>
                <a:tab pos="179705" algn="l"/>
              </a:tabLst>
            </a:pPr>
            <a:r>
              <a:rPr dirty="0" sz="1000" spc="-60" i="1">
                <a:solidFill>
                  <a:srgbClr val="595959"/>
                </a:solidFill>
                <a:latin typeface="Arial"/>
                <a:cs typeface="Arial"/>
              </a:rPr>
              <a:t>Saumya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20" i="1">
                <a:solidFill>
                  <a:srgbClr val="595959"/>
                </a:solidFill>
                <a:latin typeface="Arial"/>
                <a:cs typeface="Arial"/>
              </a:rPr>
              <a:t>Jha</a:t>
            </a:r>
            <a:r>
              <a:rPr dirty="0" sz="10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–</a:t>
            </a:r>
            <a:r>
              <a:rPr dirty="0" sz="1000" spc="-1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2510011508</a:t>
            </a:r>
            <a:endParaRPr sz="10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09193" y="2497645"/>
            <a:ext cx="5142230" cy="346710"/>
            <a:chOff x="309193" y="2497645"/>
            <a:chExt cx="5142230" cy="346710"/>
          </a:xfrm>
        </p:grpSpPr>
        <p:sp>
          <p:nvSpPr>
            <p:cNvPr id="18" name="object 18"/>
            <p:cNvSpPr/>
            <p:nvPr/>
          </p:nvSpPr>
          <p:spPr>
            <a:xfrm>
              <a:off x="309193" y="2497645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60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672816"/>
              <a:ext cx="5141666" cy="5060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09193" y="2717103"/>
              <a:ext cx="5142230" cy="127000"/>
            </a:xfrm>
            <a:custGeom>
              <a:avLst/>
              <a:gdLst/>
              <a:ahLst/>
              <a:cxnLst/>
              <a:rect l="l" t="t" r="r" b="b"/>
              <a:pathLst>
                <a:path w="5142230" h="127000">
                  <a:moveTo>
                    <a:pt x="5141666" y="0"/>
                  </a:moveTo>
                  <a:lnTo>
                    <a:pt x="0" y="0"/>
                  </a:lnTo>
                  <a:lnTo>
                    <a:pt x="0" y="75867"/>
                  </a:lnTo>
                  <a:lnTo>
                    <a:pt x="4008" y="95592"/>
                  </a:lnTo>
                  <a:lnTo>
                    <a:pt x="14922" y="111745"/>
                  </a:lnTo>
                  <a:lnTo>
                    <a:pt x="31075" y="122659"/>
                  </a:lnTo>
                  <a:lnTo>
                    <a:pt x="50800" y="126668"/>
                  </a:lnTo>
                  <a:lnTo>
                    <a:pt x="5090865" y="126668"/>
                  </a:lnTo>
                  <a:lnTo>
                    <a:pt x="5110590" y="122659"/>
                  </a:lnTo>
                  <a:lnTo>
                    <a:pt x="5126743" y="111745"/>
                  </a:lnTo>
                  <a:lnTo>
                    <a:pt x="5137657" y="95592"/>
                  </a:lnTo>
                  <a:lnTo>
                    <a:pt x="5141666" y="75867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347294" y="2476649"/>
            <a:ext cx="1092835" cy="335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345"/>
              </a:lnSpc>
              <a:spcBef>
                <a:spcPts val="95"/>
              </a:spcBef>
            </a:pP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Mentor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ts val="1105"/>
              </a:lnSpc>
            </a:pPr>
            <a:r>
              <a:rPr dirty="0" sz="1000" i="1">
                <a:solidFill>
                  <a:srgbClr val="595959"/>
                </a:solidFill>
                <a:latin typeface="Arial"/>
                <a:cs typeface="Arial"/>
              </a:rPr>
              <a:t>Mr.</a:t>
            </a:r>
            <a:r>
              <a:rPr dirty="0" sz="1000" spc="1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40" i="1">
                <a:solidFill>
                  <a:srgbClr val="595959"/>
                </a:solidFill>
                <a:latin typeface="Arial"/>
                <a:cs typeface="Arial"/>
              </a:rPr>
              <a:t>Kanishka</a:t>
            </a:r>
            <a:r>
              <a:rPr dirty="0" sz="1000" spc="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1000" spc="-10" i="1">
                <a:solidFill>
                  <a:srgbClr val="595959"/>
                </a:solidFill>
                <a:latin typeface="Arial"/>
                <a:cs typeface="Arial"/>
              </a:rPr>
              <a:t>Bhatt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4</a:t>
            </a:fld>
            <a:r>
              <a:rPr dirty="0" spc="-20"/>
              <a:t>/10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3572890" y="2634810"/>
            <a:ext cx="17608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47520" algn="l"/>
              </a:tabLst>
            </a:pPr>
            <a:r>
              <a:rPr dirty="0" sz="1000" spc="-70" b="1">
                <a:latin typeface="Tahoma"/>
                <a:cs typeface="Tahoma"/>
              </a:rPr>
              <a:t>Interactions</a:t>
            </a:r>
            <a:r>
              <a:rPr dirty="0" sz="1000" b="1">
                <a:latin typeface="Tahoma"/>
                <a:cs typeface="Tahoma"/>
              </a:rPr>
              <a:t> completed:</a:t>
            </a:r>
            <a:r>
              <a:rPr dirty="0" sz="1000" spc="140" b="1">
                <a:latin typeface="Tahoma"/>
                <a:cs typeface="Tahoma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0"/>
              <a:t>Problem</a:t>
            </a:r>
            <a:r>
              <a:rPr dirty="0" spc="35"/>
              <a:t> </a:t>
            </a:r>
            <a:r>
              <a:rPr dirty="0" spc="-55"/>
              <a:t>Statement</a:t>
            </a:r>
            <a:r>
              <a:rPr dirty="0" spc="40"/>
              <a:t> </a:t>
            </a:r>
            <a:r>
              <a:rPr dirty="0" spc="85"/>
              <a:t>&amp;</a:t>
            </a:r>
            <a:r>
              <a:rPr dirty="0" spc="40"/>
              <a:t> </a:t>
            </a:r>
            <a:r>
              <a:rPr dirty="0" spc="-35"/>
              <a:t>Motivation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09193" y="977683"/>
            <a:ext cx="5142230" cy="669290"/>
            <a:chOff x="309193" y="977683"/>
            <a:chExt cx="5142230" cy="669290"/>
          </a:xfrm>
        </p:grpSpPr>
        <p:sp>
          <p:nvSpPr>
            <p:cNvPr id="5" name="object 5"/>
            <p:cNvSpPr/>
            <p:nvPr/>
          </p:nvSpPr>
          <p:spPr>
            <a:xfrm>
              <a:off x="309193" y="977683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52855"/>
              <a:ext cx="5141666" cy="5060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9193" y="1197140"/>
              <a:ext cx="5142230" cy="449580"/>
            </a:xfrm>
            <a:custGeom>
              <a:avLst/>
              <a:gdLst/>
              <a:ahLst/>
              <a:cxnLst/>
              <a:rect l="l" t="t" r="r" b="b"/>
              <a:pathLst>
                <a:path w="5142230" h="449580">
                  <a:moveTo>
                    <a:pt x="5141666" y="0"/>
                  </a:moveTo>
                  <a:lnTo>
                    <a:pt x="0" y="0"/>
                  </a:lnTo>
                  <a:lnTo>
                    <a:pt x="0" y="398513"/>
                  </a:lnTo>
                  <a:lnTo>
                    <a:pt x="4008" y="418238"/>
                  </a:lnTo>
                  <a:lnTo>
                    <a:pt x="14922" y="434390"/>
                  </a:lnTo>
                  <a:lnTo>
                    <a:pt x="31075" y="445305"/>
                  </a:lnTo>
                  <a:lnTo>
                    <a:pt x="50800" y="449313"/>
                  </a:lnTo>
                  <a:lnTo>
                    <a:pt x="5090865" y="449313"/>
                  </a:lnTo>
                  <a:lnTo>
                    <a:pt x="5110590" y="445305"/>
                  </a:lnTo>
                  <a:lnTo>
                    <a:pt x="5126743" y="434390"/>
                  </a:lnTo>
                  <a:lnTo>
                    <a:pt x="5137657" y="418238"/>
                  </a:lnTo>
                  <a:lnTo>
                    <a:pt x="5141666" y="39851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47294" y="908634"/>
            <a:ext cx="4919980" cy="70675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200">
                <a:solidFill>
                  <a:srgbClr val="133768"/>
                </a:solidFill>
                <a:latin typeface="Calibri"/>
                <a:cs typeface="Calibri"/>
              </a:rPr>
              <a:t>Problem</a:t>
            </a: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 Statement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1499"/>
              </a:lnSpc>
              <a:spcBef>
                <a:spcPts val="265"/>
              </a:spcBef>
            </a:pPr>
            <a:r>
              <a:rPr dirty="0" sz="900">
                <a:latin typeface="Tahoma"/>
                <a:cs typeface="Tahoma"/>
              </a:rPr>
              <a:t>Manual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exam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seating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is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slow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40">
                <a:latin typeface="Tahoma"/>
                <a:cs typeface="Tahoma"/>
              </a:rPr>
              <a:t>error-</a:t>
            </a:r>
            <a:r>
              <a:rPr dirty="0" sz="900" spc="-25">
                <a:latin typeface="Tahoma"/>
                <a:cs typeface="Tahoma"/>
              </a:rPr>
              <a:t>prone:</a:t>
            </a:r>
            <a:r>
              <a:rPr dirty="0" sz="900" spc="6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institutions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must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allocate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students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while</a:t>
            </a:r>
            <a:r>
              <a:rPr dirty="0" sz="900" spc="-2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enforcing </a:t>
            </a:r>
            <a:r>
              <a:rPr dirty="0" sz="900" spc="-20">
                <a:latin typeface="Tahoma"/>
                <a:cs typeface="Tahoma"/>
              </a:rPr>
              <a:t>anti-</a:t>
            </a:r>
            <a:r>
              <a:rPr dirty="0" sz="900" spc="-10">
                <a:latin typeface="Tahoma"/>
                <a:cs typeface="Tahoma"/>
              </a:rPr>
              <a:t>cheating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(no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adjacent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40">
                <a:latin typeface="Tahoma"/>
                <a:cs typeface="Tahoma"/>
              </a:rPr>
              <a:t>same-</a:t>
            </a:r>
            <a:r>
              <a:rPr dirty="0" sz="900" spc="-20">
                <a:latin typeface="Tahoma"/>
                <a:cs typeface="Tahoma"/>
              </a:rPr>
              <a:t>subject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seats),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hall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capacity,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faculty-</a:t>
            </a:r>
            <a:r>
              <a:rPr dirty="0" sz="900">
                <a:latin typeface="Tahoma"/>
                <a:cs typeface="Tahoma"/>
              </a:rPr>
              <a:t>invigilation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rules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–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causing </a:t>
            </a:r>
            <a:r>
              <a:rPr dirty="0" sz="900" spc="-30">
                <a:latin typeface="Tahoma"/>
                <a:cs typeface="Tahoma"/>
              </a:rPr>
              <a:t>errors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35">
                <a:latin typeface="Tahoma"/>
                <a:cs typeface="Tahoma"/>
              </a:rPr>
              <a:t> delayed </a:t>
            </a:r>
            <a:r>
              <a:rPr dirty="0" sz="900">
                <a:latin typeface="Tahoma"/>
                <a:cs typeface="Tahoma"/>
              </a:rPr>
              <a:t>hall-ticket</a:t>
            </a:r>
            <a:r>
              <a:rPr dirty="0" sz="900" spc="-3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generation.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4</a:t>
            </a:fld>
            <a:r>
              <a:rPr dirty="0" spc="-20"/>
              <a:t>/10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21894" y="1646990"/>
            <a:ext cx="2386965" cy="141732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dirty="0" sz="900" spc="-10" b="1">
                <a:solidFill>
                  <a:srgbClr val="133768"/>
                </a:solidFill>
                <a:latin typeface="Tahoma"/>
                <a:cs typeface="Tahoma"/>
              </a:rPr>
              <a:t>Motivation</a:t>
            </a:r>
            <a:endParaRPr sz="900">
              <a:latin typeface="Tahoma"/>
              <a:cs typeface="Tahoma"/>
            </a:endParaRPr>
          </a:p>
          <a:p>
            <a:pPr marL="156845">
              <a:lnSpc>
                <a:spcPct val="100000"/>
              </a:lnSpc>
              <a:spcBef>
                <a:spcPts val="414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284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latin typeface="Tahoma"/>
                <a:cs typeface="Tahoma"/>
              </a:rPr>
              <a:t>Traditional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seating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plans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are</a:t>
            </a:r>
            <a:endParaRPr sz="900">
              <a:latin typeface="Tahoma"/>
              <a:cs typeface="Tahoma"/>
            </a:endParaRPr>
          </a:p>
          <a:p>
            <a:pPr marL="314960">
              <a:lnSpc>
                <a:spcPct val="100000"/>
              </a:lnSpc>
              <a:spcBef>
                <a:spcPts val="15"/>
              </a:spcBef>
            </a:pPr>
            <a:r>
              <a:rPr dirty="0" sz="900" spc="-25">
                <a:latin typeface="Tahoma"/>
                <a:cs typeface="Tahoma"/>
              </a:rPr>
              <a:t>time-</a:t>
            </a:r>
            <a:r>
              <a:rPr dirty="0" sz="900" spc="-10">
                <a:latin typeface="Tahoma"/>
                <a:cs typeface="Tahoma"/>
              </a:rPr>
              <a:t>consuming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prone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errors</a:t>
            </a:r>
            <a:endParaRPr sz="900">
              <a:latin typeface="Tahoma"/>
              <a:cs typeface="Tahoma"/>
            </a:endParaRPr>
          </a:p>
          <a:p>
            <a:pPr marL="314960" marR="30480" indent="-158115">
              <a:lnSpc>
                <a:spcPct val="101499"/>
              </a:lnSpc>
              <a:spcBef>
                <a:spcPts val="100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284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10">
                <a:latin typeface="Tahoma"/>
                <a:cs typeface="Tahoma"/>
              </a:rPr>
              <a:t>Students </a:t>
            </a:r>
            <a:r>
              <a:rPr dirty="0" sz="900">
                <a:latin typeface="Tahoma"/>
                <a:cs typeface="Tahoma"/>
              </a:rPr>
              <a:t>must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search</a:t>
            </a:r>
            <a:r>
              <a:rPr dirty="0" sz="900" spc="-10">
                <a:latin typeface="Tahoma"/>
                <a:cs typeface="Tahoma"/>
              </a:rPr>
              <a:t> lengthy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lists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to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find </a:t>
            </a:r>
            <a:r>
              <a:rPr dirty="0" sz="900">
                <a:latin typeface="Tahoma"/>
                <a:cs typeface="Tahoma"/>
              </a:rPr>
              <a:t>their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room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seat</a:t>
            </a:r>
            <a:endParaRPr sz="900">
              <a:latin typeface="Tahoma"/>
              <a:cs typeface="Tahoma"/>
            </a:endParaRPr>
          </a:p>
          <a:p>
            <a:pPr marL="314960" marR="303530" indent="-158115">
              <a:lnSpc>
                <a:spcPct val="101499"/>
              </a:lnSpc>
              <a:spcBef>
                <a:spcPts val="95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270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latin typeface="Tahoma"/>
                <a:cs typeface="Tahoma"/>
              </a:rPr>
              <a:t>Faculty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duties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are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managed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through </a:t>
            </a:r>
            <a:r>
              <a:rPr dirty="0" sz="900" spc="-35">
                <a:latin typeface="Tahoma"/>
                <a:cs typeface="Tahoma"/>
              </a:rPr>
              <a:t>separate,</a:t>
            </a:r>
            <a:r>
              <a:rPr dirty="0" sz="900" spc="15">
                <a:latin typeface="Tahoma"/>
                <a:cs typeface="Tahoma"/>
              </a:rPr>
              <a:t> </a:t>
            </a:r>
            <a:r>
              <a:rPr dirty="0" sz="900" spc="-35">
                <a:latin typeface="Tahoma"/>
                <a:cs typeface="Tahoma"/>
              </a:rPr>
              <a:t>non-</a:t>
            </a:r>
            <a:r>
              <a:rPr dirty="0" sz="900" spc="-20">
                <a:latin typeface="Tahoma"/>
                <a:cs typeface="Tahoma"/>
              </a:rPr>
              <a:t>personalized</a:t>
            </a:r>
            <a:r>
              <a:rPr dirty="0" sz="900" spc="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lists</a:t>
            </a:r>
            <a:endParaRPr sz="900">
              <a:latin typeface="Tahoma"/>
              <a:cs typeface="Tahoma"/>
            </a:endParaRPr>
          </a:p>
          <a:p>
            <a:pPr marL="314960" marR="208279" indent="-158115">
              <a:lnSpc>
                <a:spcPct val="101499"/>
              </a:lnSpc>
              <a:spcBef>
                <a:spcPts val="100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31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70">
                <a:latin typeface="Tahoma"/>
                <a:cs typeface="Tahoma"/>
              </a:rPr>
              <a:t>UFM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cases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are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documented</a:t>
            </a:r>
            <a:r>
              <a:rPr dirty="0" sz="90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manually, </a:t>
            </a:r>
            <a:r>
              <a:rPr dirty="0" sz="900" spc="-10">
                <a:latin typeface="Tahoma"/>
                <a:cs typeface="Tahoma"/>
              </a:rPr>
              <a:t>making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tracking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difficult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2717" y="1653314"/>
            <a:ext cx="2496185" cy="113919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dirty="0" sz="900" spc="-40" b="1">
                <a:solidFill>
                  <a:srgbClr val="133768"/>
                </a:solidFill>
                <a:latin typeface="Tahoma"/>
                <a:cs typeface="Tahoma"/>
              </a:rPr>
              <a:t>Target</a:t>
            </a:r>
            <a:r>
              <a:rPr dirty="0" sz="900" spc="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900" spc="-45" b="1">
                <a:solidFill>
                  <a:srgbClr val="133768"/>
                </a:solidFill>
                <a:latin typeface="Tahoma"/>
                <a:cs typeface="Tahoma"/>
              </a:rPr>
              <a:t>Users</a:t>
            </a:r>
            <a:r>
              <a:rPr dirty="0" sz="900" spc="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900" b="1">
                <a:solidFill>
                  <a:srgbClr val="133768"/>
                </a:solidFill>
                <a:latin typeface="Tahoma"/>
                <a:cs typeface="Tahoma"/>
              </a:rPr>
              <a:t>/</a:t>
            </a:r>
            <a:r>
              <a:rPr dirty="0" sz="900" spc="1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900" spc="-10" b="1">
                <a:solidFill>
                  <a:srgbClr val="133768"/>
                </a:solidFill>
                <a:latin typeface="Tahoma"/>
                <a:cs typeface="Tahoma"/>
              </a:rPr>
              <a:t>Stakeholders</a:t>
            </a:r>
            <a:endParaRPr sz="900">
              <a:latin typeface="Tahoma"/>
              <a:cs typeface="Tahoma"/>
            </a:endParaRPr>
          </a:p>
          <a:p>
            <a:pPr marL="314960" marR="30480" indent="-158115">
              <a:lnSpc>
                <a:spcPct val="101499"/>
              </a:lnSpc>
              <a:spcBef>
                <a:spcPts val="395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26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latin typeface="Tahoma"/>
                <a:cs typeface="Tahoma"/>
              </a:rPr>
              <a:t>Examination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department</a:t>
            </a:r>
            <a:r>
              <a:rPr dirty="0" sz="900" spc="-3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administrative staff</a:t>
            </a:r>
            <a:endParaRPr sz="900">
              <a:latin typeface="Tahoma"/>
              <a:cs typeface="Tahoma"/>
            </a:endParaRPr>
          </a:p>
          <a:p>
            <a:pPr marL="156845">
              <a:lnSpc>
                <a:spcPct val="100000"/>
              </a:lnSpc>
              <a:spcBef>
                <a:spcPts val="114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27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>
                <a:latin typeface="Tahoma"/>
                <a:cs typeface="Tahoma"/>
              </a:rPr>
              <a:t>Faculty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members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assigned</a:t>
            </a:r>
            <a:r>
              <a:rPr dirty="0" sz="900" spc="-20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for</a:t>
            </a:r>
            <a:r>
              <a:rPr dirty="0" sz="900" spc="-15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invigilation</a:t>
            </a:r>
            <a:endParaRPr sz="900">
              <a:latin typeface="Tahoma"/>
              <a:cs typeface="Tahoma"/>
            </a:endParaRPr>
          </a:p>
          <a:p>
            <a:pPr marL="156845">
              <a:lnSpc>
                <a:spcPct val="100000"/>
              </a:lnSpc>
              <a:spcBef>
                <a:spcPts val="120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37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20">
                <a:latin typeface="Tahoma"/>
                <a:cs typeface="Tahoma"/>
              </a:rPr>
              <a:t>Students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30">
                <a:latin typeface="Tahoma"/>
                <a:cs typeface="Tahoma"/>
              </a:rPr>
              <a:t>accessing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their</a:t>
            </a:r>
            <a:r>
              <a:rPr dirty="0" sz="900" spc="-10">
                <a:latin typeface="Tahoma"/>
                <a:cs typeface="Tahoma"/>
              </a:rPr>
              <a:t> </a:t>
            </a:r>
            <a:r>
              <a:rPr dirty="0" sz="900" spc="-20">
                <a:latin typeface="Tahoma"/>
                <a:cs typeface="Tahoma"/>
              </a:rPr>
              <a:t>examination</a:t>
            </a:r>
            <a:r>
              <a:rPr dirty="0" sz="900" spc="-10">
                <a:latin typeface="Tahoma"/>
                <a:cs typeface="Tahoma"/>
              </a:rPr>
              <a:t> details</a:t>
            </a:r>
            <a:endParaRPr sz="900">
              <a:latin typeface="Tahoma"/>
              <a:cs typeface="Tahoma"/>
            </a:endParaRPr>
          </a:p>
          <a:p>
            <a:pPr marL="314960" marR="529590" indent="-158115">
              <a:lnSpc>
                <a:spcPct val="101499"/>
              </a:lnSpc>
              <a:spcBef>
                <a:spcPts val="95"/>
              </a:spcBef>
            </a:pPr>
            <a:r>
              <a:rPr dirty="0" baseline="6172" sz="135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6172" sz="1350" spc="30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900" spc="-10">
                <a:latin typeface="Tahoma"/>
                <a:cs typeface="Tahoma"/>
              </a:rPr>
              <a:t>College authorities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responsible</a:t>
            </a:r>
            <a:r>
              <a:rPr dirty="0" sz="900" spc="-5">
                <a:latin typeface="Tahoma"/>
                <a:cs typeface="Tahoma"/>
              </a:rPr>
              <a:t> </a:t>
            </a:r>
            <a:r>
              <a:rPr dirty="0" sz="900" spc="-25">
                <a:latin typeface="Tahoma"/>
                <a:cs typeface="Tahoma"/>
              </a:rPr>
              <a:t>for </a:t>
            </a:r>
            <a:r>
              <a:rPr dirty="0" sz="900" spc="-10">
                <a:latin typeface="Tahoma"/>
                <a:cs typeface="Tahoma"/>
              </a:rPr>
              <a:t>monitoring</a:t>
            </a:r>
            <a:r>
              <a:rPr dirty="0" sz="900" spc="-45">
                <a:latin typeface="Tahoma"/>
                <a:cs typeface="Tahoma"/>
              </a:rPr>
              <a:t> </a:t>
            </a:r>
            <a:r>
              <a:rPr dirty="0" sz="900">
                <a:latin typeface="Tahoma"/>
                <a:cs typeface="Tahoma"/>
              </a:rPr>
              <a:t>and</a:t>
            </a:r>
            <a:r>
              <a:rPr dirty="0" sz="900" spc="-40">
                <a:latin typeface="Tahoma"/>
                <a:cs typeface="Tahoma"/>
              </a:rPr>
              <a:t> </a:t>
            </a:r>
            <a:r>
              <a:rPr dirty="0" sz="900" spc="-10">
                <a:latin typeface="Tahoma"/>
                <a:cs typeface="Tahoma"/>
              </a:rPr>
              <a:t>records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827716"/>
            <a:ext cx="4911725" cy="1717039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000" spc="-35" b="1">
                <a:solidFill>
                  <a:srgbClr val="133768"/>
                </a:solidFill>
                <a:latin typeface="Tahoma"/>
                <a:cs typeface="Tahoma"/>
              </a:rPr>
              <a:t>Project</a:t>
            </a:r>
            <a:r>
              <a:rPr dirty="0" sz="1000" spc="-1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Objectives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68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dirty="0" sz="1000" spc="-20">
                <a:latin typeface="Tahoma"/>
                <a:cs typeface="Tahoma"/>
              </a:rPr>
              <a:t>Automate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seating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arrangements</a:t>
            </a:r>
            <a:r>
              <a:rPr dirty="0" sz="1000" spc="-30">
                <a:latin typeface="Tahoma"/>
                <a:cs typeface="Tahoma"/>
              </a:rPr>
              <a:t> using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student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from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Excel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roster.</a:t>
            </a:r>
            <a:endParaRPr sz="1000">
              <a:latin typeface="Tahoma"/>
              <a:cs typeface="Tahoma"/>
            </a:endParaRPr>
          </a:p>
          <a:p>
            <a:pPr marL="288290" marR="13970" indent="-167005">
              <a:lnSpc>
                <a:spcPct val="100000"/>
              </a:lnSpc>
              <a:spcBef>
                <a:spcPts val="2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1000" spc="-25">
                <a:latin typeface="Tahoma"/>
                <a:cs typeface="Tahoma"/>
              </a:rPr>
              <a:t>Create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subject-</a:t>
            </a:r>
            <a:r>
              <a:rPr dirty="0" sz="1000" spc="-35">
                <a:latin typeface="Tahoma"/>
                <a:cs typeface="Tahoma"/>
              </a:rPr>
              <a:t>wise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seating</a:t>
            </a:r>
            <a:r>
              <a:rPr dirty="0" sz="1000" spc="-25">
                <a:latin typeface="Tahoma"/>
                <a:cs typeface="Tahoma"/>
              </a:rPr>
              <a:t> pattern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that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minimizes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possibility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copying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between 	adjacent</a:t>
            </a:r>
            <a:r>
              <a:rPr dirty="0" sz="1000" spc="-10">
                <a:latin typeface="Tahoma"/>
                <a:cs typeface="Tahoma"/>
              </a:rPr>
              <a:t> students.</a:t>
            </a:r>
            <a:endParaRPr sz="1000">
              <a:latin typeface="Tahoma"/>
              <a:cs typeface="Tahoma"/>
            </a:endParaRPr>
          </a:p>
          <a:p>
            <a:pPr marL="288290" marR="5080" indent="-167005">
              <a:lnSpc>
                <a:spcPct val="100000"/>
              </a:lnSpc>
              <a:spcBef>
                <a:spcPts val="2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1000" spc="-10">
                <a:latin typeface="Tahoma"/>
                <a:cs typeface="Tahoma"/>
              </a:rPr>
              <a:t>Automatically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assign</a:t>
            </a:r>
            <a:r>
              <a:rPr dirty="0" sz="1000" spc="-20">
                <a:latin typeface="Tahoma"/>
                <a:cs typeface="Tahoma"/>
              </a:rPr>
              <a:t> halls</a:t>
            </a:r>
            <a:r>
              <a:rPr dirty="0" sz="1000" spc="-25">
                <a:latin typeface="Tahoma"/>
                <a:cs typeface="Tahoma"/>
              </a:rPr>
              <a:t> and</a:t>
            </a:r>
            <a:r>
              <a:rPr dirty="0" sz="1000" spc="-20">
                <a:latin typeface="Tahoma"/>
                <a:cs typeface="Tahoma"/>
              </a:rPr>
              <a:t> invigilation</a:t>
            </a:r>
            <a:r>
              <a:rPr dirty="0" sz="1000" spc="-25">
                <a:latin typeface="Tahoma"/>
                <a:cs typeface="Tahoma"/>
              </a:rPr>
              <a:t> duties while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considering</a:t>
            </a:r>
            <a:r>
              <a:rPr dirty="0" sz="1000" spc="-25">
                <a:latin typeface="Tahoma"/>
                <a:cs typeface="Tahoma"/>
              </a:rPr>
              <a:t> capacity and </a:t>
            </a:r>
            <a:r>
              <a:rPr dirty="0" sz="1000" spc="-10">
                <a:latin typeface="Tahoma"/>
                <a:cs typeface="Tahoma"/>
              </a:rPr>
              <a:t>faculty 	constraints.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29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dirty="0" sz="1000" spc="-45">
                <a:latin typeface="Tahoma"/>
                <a:cs typeface="Tahoma"/>
              </a:rPr>
              <a:t>Implement</a:t>
            </a:r>
            <a:r>
              <a:rPr dirty="0" sz="1000" spc="4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DSA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concepts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C++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OOP</a:t>
            </a:r>
            <a:r>
              <a:rPr dirty="0" sz="1000" spc="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principles.</a:t>
            </a:r>
            <a:endParaRPr sz="1000">
              <a:latin typeface="Tahoma"/>
              <a:cs typeface="Tahoma"/>
            </a:endParaRPr>
          </a:p>
          <a:p>
            <a:pPr marL="288290" marR="302260" indent="-167005">
              <a:lnSpc>
                <a:spcPct val="100000"/>
              </a:lnSpc>
              <a:spcBef>
                <a:spcPts val="2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1000" spc="-45">
                <a:latin typeface="Tahoma"/>
                <a:cs typeface="Tahoma"/>
              </a:rPr>
              <a:t>Generate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digital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seating</a:t>
            </a:r>
            <a:r>
              <a:rPr dirty="0" sz="1000" spc="-30">
                <a:latin typeface="Tahoma"/>
                <a:cs typeface="Tahoma"/>
              </a:rPr>
              <a:t> plans,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student </a:t>
            </a:r>
            <a:r>
              <a:rPr dirty="0" sz="1000">
                <a:latin typeface="Tahoma"/>
                <a:cs typeface="Tahoma"/>
              </a:rPr>
              <a:t>hall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tickets,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20">
                <a:latin typeface="Tahoma"/>
                <a:cs typeface="Tahoma"/>
              </a:rPr>
              <a:t>faculty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invigilation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rosters 	automatically.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4</a:t>
            </a:fld>
            <a:r>
              <a:rPr dirty="0" spc="-2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3646" y="2645130"/>
            <a:ext cx="4712970" cy="467995"/>
          </a:xfrm>
          <a:prstGeom prst="rect">
            <a:avLst/>
          </a:prstGeom>
          <a:solidFill>
            <a:srgbClr val="EDF3FA"/>
          </a:solidFill>
        </p:spPr>
        <p:txBody>
          <a:bodyPr wrap="square" lIns="0" tIns="3810" rIns="0" bIns="0" rtlCol="0" vert="horz">
            <a:spAutoFit/>
          </a:bodyPr>
          <a:lstStyle/>
          <a:p>
            <a:pPr algn="ctr" marL="188595" marR="182245" indent="1270">
              <a:lnSpc>
                <a:spcPts val="1200"/>
              </a:lnSpc>
              <a:spcBef>
                <a:spcPts val="30"/>
              </a:spcBef>
            </a:pPr>
            <a:r>
              <a:rPr dirty="0" sz="1000" b="1">
                <a:latin typeface="Tahoma"/>
                <a:cs typeface="Tahoma"/>
              </a:rPr>
              <a:t>Key</a:t>
            </a:r>
            <a:r>
              <a:rPr dirty="0" sz="1000" spc="5" b="1">
                <a:latin typeface="Tahoma"/>
                <a:cs typeface="Tahoma"/>
              </a:rPr>
              <a:t> </a:t>
            </a:r>
            <a:r>
              <a:rPr dirty="0" sz="1000" spc="-50" b="1">
                <a:latin typeface="Tahoma"/>
                <a:cs typeface="Tahoma"/>
              </a:rPr>
              <a:t>Objective:</a:t>
            </a:r>
            <a:r>
              <a:rPr dirty="0" sz="1000" spc="75" b="1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Develop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fully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automated,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rule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based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exam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seating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system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that </a:t>
            </a:r>
            <a:r>
              <a:rPr dirty="0" sz="1000" spc="-40">
                <a:latin typeface="Tahoma"/>
                <a:cs typeface="Tahoma"/>
              </a:rPr>
              <a:t>converts raw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Excel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into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ready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print</a:t>
            </a:r>
            <a:r>
              <a:rPr dirty="0" sz="1000" spc="-35">
                <a:latin typeface="Tahoma"/>
                <a:cs typeface="Tahoma"/>
              </a:rPr>
              <a:t> seating </a:t>
            </a:r>
            <a:r>
              <a:rPr dirty="0" sz="1000" spc="-30">
                <a:latin typeface="Tahoma"/>
                <a:cs typeface="Tahoma"/>
              </a:rPr>
              <a:t>charts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faculty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duty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rosters within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seconds.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0"/>
              <a:t>Proposed</a:t>
            </a:r>
            <a:r>
              <a:rPr dirty="0" spc="-5"/>
              <a:t> </a:t>
            </a:r>
            <a:r>
              <a:rPr dirty="0" spc="-55"/>
              <a:t>Solution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7294" y="899052"/>
            <a:ext cx="2386965" cy="1948814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000" spc="-50" b="1">
                <a:solidFill>
                  <a:srgbClr val="133768"/>
                </a:solidFill>
                <a:latin typeface="Tahoma"/>
                <a:cs typeface="Tahoma"/>
              </a:rPr>
              <a:t>Proposed</a:t>
            </a:r>
            <a:r>
              <a:rPr dirty="0" sz="1000" spc="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Approach</a:t>
            </a:r>
            <a:endParaRPr sz="1000">
              <a:latin typeface="Tahoma"/>
              <a:cs typeface="Tahoma"/>
            </a:endParaRPr>
          </a:p>
          <a:p>
            <a:pPr marL="288290" marR="246379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1000" spc="-35">
                <a:latin typeface="Tahoma"/>
                <a:cs typeface="Tahoma"/>
              </a:rPr>
              <a:t>Input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Data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Collection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Gather </a:t>
            </a:r>
            <a:r>
              <a:rPr dirty="0" sz="1000" spc="-10">
                <a:latin typeface="Tahoma"/>
                <a:cs typeface="Tahoma"/>
              </a:rPr>
              <a:t>	</a:t>
            </a:r>
            <a:r>
              <a:rPr dirty="0" sz="1000" spc="-30">
                <a:latin typeface="Tahoma"/>
                <a:cs typeface="Tahoma"/>
              </a:rPr>
              <a:t>student, </a:t>
            </a:r>
            <a:r>
              <a:rPr dirty="0" sz="1000" spc="-45">
                <a:latin typeface="Tahoma"/>
                <a:cs typeface="Tahoma"/>
              </a:rPr>
              <a:t>exam,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room</a:t>
            </a:r>
            <a:r>
              <a:rPr dirty="0" sz="1000" spc="25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faculty</a:t>
            </a:r>
            <a:r>
              <a:rPr dirty="0" sz="1000" spc="-25">
                <a:latin typeface="Tahoma"/>
                <a:cs typeface="Tahoma"/>
              </a:rPr>
              <a:t> data.</a:t>
            </a:r>
            <a:endParaRPr sz="1000">
              <a:latin typeface="Tahoma"/>
              <a:cs typeface="Tahoma"/>
            </a:endParaRPr>
          </a:p>
          <a:p>
            <a:pPr marL="288290" marR="108585" indent="-167005">
              <a:lnSpc>
                <a:spcPct val="10000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1000" spc="-30">
                <a:latin typeface="Tahoma"/>
                <a:cs typeface="Tahoma"/>
              </a:rPr>
              <a:t>Processing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Core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Algorithm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Apply </a:t>
            </a:r>
            <a:r>
              <a:rPr dirty="0" sz="1000" spc="-10">
                <a:latin typeface="Tahoma"/>
                <a:cs typeface="Tahoma"/>
              </a:rPr>
              <a:t>	</a:t>
            </a:r>
            <a:r>
              <a:rPr dirty="0" sz="1000">
                <a:latin typeface="Tahoma"/>
                <a:cs typeface="Tahoma"/>
              </a:rPr>
              <a:t>DSA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smart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seat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allocation.</a:t>
            </a:r>
            <a:endParaRPr sz="1000">
              <a:latin typeface="Tahoma"/>
              <a:cs typeface="Tahoma"/>
            </a:endParaRPr>
          </a:p>
          <a:p>
            <a:pPr marL="288290" marR="204470" indent="-167005">
              <a:lnSpc>
                <a:spcPct val="10000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1000" spc="-35">
                <a:latin typeface="Tahoma"/>
                <a:cs typeface="Tahoma"/>
              </a:rPr>
              <a:t>System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Logic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Use</a:t>
            </a:r>
            <a:r>
              <a:rPr dirty="0" sz="1000" spc="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C++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OOP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and </a:t>
            </a:r>
            <a:r>
              <a:rPr dirty="0" sz="1000" spc="-30">
                <a:latin typeface="Tahoma"/>
                <a:cs typeface="Tahoma"/>
              </a:rPr>
              <a:t>	</a:t>
            </a:r>
            <a:r>
              <a:rPr dirty="0" sz="1000" spc="-10">
                <a:latin typeface="Tahoma"/>
                <a:cs typeface="Tahoma"/>
              </a:rPr>
              <a:t>allocation</a:t>
            </a:r>
            <a:r>
              <a:rPr dirty="0" sz="1000" spc="-6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rules.</a:t>
            </a:r>
            <a:endParaRPr sz="1000">
              <a:latin typeface="Tahoma"/>
              <a:cs typeface="Tahoma"/>
            </a:endParaRPr>
          </a:p>
          <a:p>
            <a:pPr marL="288290" marR="5080" indent="-167005">
              <a:lnSpc>
                <a:spcPct val="10000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1000" spc="-30">
                <a:latin typeface="Tahoma"/>
                <a:cs typeface="Tahoma"/>
              </a:rPr>
              <a:t>Database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Storage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</a:t>
            </a:r>
            <a:r>
              <a:rPr dirty="0" sz="1000" spc="-30">
                <a:latin typeface="Tahoma"/>
                <a:cs typeface="Tahoma"/>
              </a:rPr>
              <a:t> Organize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records </a:t>
            </a:r>
            <a:r>
              <a:rPr dirty="0" sz="1000" spc="-40">
                <a:latin typeface="Tahoma"/>
                <a:cs typeface="Tahoma"/>
              </a:rPr>
              <a:t>	</a:t>
            </a:r>
            <a:r>
              <a:rPr dirty="0" sz="1000" spc="-30">
                <a:latin typeface="Tahoma"/>
                <a:cs typeface="Tahoma"/>
              </a:rPr>
              <a:t>using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DSA</a:t>
            </a:r>
            <a:r>
              <a:rPr dirty="0" sz="1000" spc="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structures.</a:t>
            </a:r>
            <a:endParaRPr sz="1000">
              <a:latin typeface="Tahoma"/>
              <a:cs typeface="Tahoma"/>
            </a:endParaRPr>
          </a:p>
          <a:p>
            <a:pPr marL="288290" marR="17780" indent="-167005">
              <a:lnSpc>
                <a:spcPct val="100000"/>
              </a:lnSpc>
              <a:spcBef>
                <a:spcPts val="1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dirty="0" sz="1000">
                <a:latin typeface="Tahoma"/>
                <a:cs typeface="Tahoma"/>
              </a:rPr>
              <a:t>Output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or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Visualization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-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Generate </a:t>
            </a:r>
            <a:r>
              <a:rPr dirty="0" sz="1000" spc="-10">
                <a:latin typeface="Tahoma"/>
                <a:cs typeface="Tahoma"/>
              </a:rPr>
              <a:t>	</a:t>
            </a:r>
            <a:r>
              <a:rPr dirty="0" sz="1000" spc="-35">
                <a:latin typeface="Tahoma"/>
                <a:cs typeface="Tahoma"/>
              </a:rPr>
              <a:t>seating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plans,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hall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tickets</a:t>
            </a:r>
            <a:r>
              <a:rPr dirty="0" sz="1000" spc="210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duty</a:t>
            </a:r>
            <a:r>
              <a:rPr dirty="0" sz="1000" spc="-5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rosters.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8105">
              <a:lnSpc>
                <a:spcPts val="675"/>
              </a:lnSpc>
            </a:pPr>
            <a:fld id="{81D60167-4931-47E6-BA6A-407CBD079E47}" type="slidenum">
              <a:rPr dirty="0" spc="-20"/>
              <a:t>4</a:t>
            </a:fld>
            <a:r>
              <a:rPr dirty="0" spc="-20"/>
              <a:t>/10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942717" y="899052"/>
            <a:ext cx="2308860" cy="1948814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000" b="1">
                <a:solidFill>
                  <a:srgbClr val="133768"/>
                </a:solidFill>
                <a:latin typeface="Tahoma"/>
                <a:cs typeface="Tahoma"/>
              </a:rPr>
              <a:t>Key</a:t>
            </a:r>
            <a:r>
              <a:rPr dirty="0" sz="1000" spc="-4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Features</a:t>
            </a:r>
            <a:endParaRPr sz="1000">
              <a:latin typeface="Tahoma"/>
              <a:cs typeface="Tahoma"/>
            </a:endParaRPr>
          </a:p>
          <a:p>
            <a:pPr marL="314960" marR="30480" indent="-168275">
              <a:lnSpc>
                <a:spcPct val="100000"/>
              </a:lnSpc>
              <a:spcBef>
                <a:spcPts val="5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3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latin typeface="Tahoma"/>
                <a:cs typeface="Tahoma"/>
              </a:rPr>
              <a:t>Rule-</a:t>
            </a:r>
            <a:r>
              <a:rPr dirty="0" sz="1000" spc="-25">
                <a:latin typeface="Tahoma"/>
                <a:cs typeface="Tahoma"/>
              </a:rPr>
              <a:t>driven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allocation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seats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across </a:t>
            </a:r>
            <a:r>
              <a:rPr dirty="0" sz="1000" spc="-35">
                <a:latin typeface="Tahoma"/>
                <a:cs typeface="Tahoma"/>
              </a:rPr>
              <a:t>examination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halls</a:t>
            </a:r>
            <a:endParaRPr sz="1000">
              <a:latin typeface="Tahoma"/>
              <a:cs typeface="Tahoma"/>
            </a:endParaRPr>
          </a:p>
          <a:p>
            <a:pPr marL="314960" marR="73025" indent="-168275">
              <a:lnSpc>
                <a:spcPct val="100000"/>
              </a:lnSpc>
              <a:spcBef>
                <a:spcPts val="1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9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latin typeface="Tahoma"/>
                <a:cs typeface="Tahoma"/>
              </a:rPr>
              <a:t>Student-</a:t>
            </a:r>
            <a:r>
              <a:rPr dirty="0" sz="1000" spc="-20">
                <a:latin typeface="Tahoma"/>
                <a:cs typeface="Tahoma"/>
              </a:rPr>
              <a:t>specific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access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to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exam</a:t>
            </a:r>
            <a:r>
              <a:rPr dirty="0" sz="100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35">
                <a:latin typeface="Tahoma"/>
                <a:cs typeface="Tahoma"/>
              </a:rPr>
              <a:t>seating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information</a:t>
            </a:r>
            <a:endParaRPr sz="1000">
              <a:latin typeface="Tahoma"/>
              <a:cs typeface="Tahoma"/>
            </a:endParaRPr>
          </a:p>
          <a:p>
            <a:pPr marL="314960" marR="32384" indent="-168275">
              <a:lnSpc>
                <a:spcPct val="100000"/>
              </a:lnSpc>
              <a:spcBef>
                <a:spcPts val="1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3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Automatic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distribution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of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invigilation </a:t>
            </a:r>
            <a:r>
              <a:rPr dirty="0" sz="1000" spc="-10">
                <a:latin typeface="Tahoma"/>
                <a:cs typeface="Tahoma"/>
              </a:rPr>
              <a:t>responsibilities</a:t>
            </a:r>
            <a:endParaRPr sz="1000">
              <a:latin typeface="Tahoma"/>
              <a:cs typeface="Tahoma"/>
            </a:endParaRPr>
          </a:p>
          <a:p>
            <a:pPr marL="314960" marR="351790" indent="-168275">
              <a:lnSpc>
                <a:spcPct val="100000"/>
              </a:lnSpc>
              <a:spcBef>
                <a:spcPts val="1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6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Digital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capture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and</a:t>
            </a:r>
            <a:r>
              <a:rPr dirty="0" sz="1000" spc="-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tracking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of </a:t>
            </a:r>
            <a:r>
              <a:rPr dirty="0" sz="1000" spc="-35">
                <a:latin typeface="Tahoma"/>
                <a:cs typeface="Tahoma"/>
              </a:rPr>
              <a:t>examination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irregularities</a:t>
            </a:r>
            <a:endParaRPr sz="1000">
              <a:latin typeface="Tahoma"/>
              <a:cs typeface="Tahoma"/>
            </a:endParaRPr>
          </a:p>
          <a:p>
            <a:pPr marL="314960" marR="74930" indent="-168275">
              <a:lnSpc>
                <a:spcPct val="100000"/>
              </a:lnSpc>
              <a:spcBef>
                <a:spcPts val="1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4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Single</a:t>
            </a:r>
            <a:r>
              <a:rPr dirty="0" sz="1000" spc="-20">
                <a:latin typeface="Tahoma"/>
                <a:cs typeface="Tahoma"/>
              </a:rPr>
              <a:t> platform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for </a:t>
            </a:r>
            <a:r>
              <a:rPr dirty="0" sz="1000" spc="-30">
                <a:latin typeface="Tahoma"/>
                <a:cs typeface="Tahoma"/>
              </a:rPr>
              <a:t>centralized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exam </a:t>
            </a:r>
            <a:r>
              <a:rPr dirty="0" sz="1000" spc="-10">
                <a:latin typeface="Tahoma"/>
                <a:cs typeface="Tahoma"/>
              </a:rPr>
              <a:t>administration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294" y="2861067"/>
            <a:ext cx="43656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35">
                <a:solidFill>
                  <a:srgbClr val="595959"/>
                </a:solidFill>
                <a:latin typeface="Arial"/>
                <a:cs typeface="Arial"/>
              </a:rPr>
              <a:t>Replaces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manual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seat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planning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114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0">
                <a:solidFill>
                  <a:srgbClr val="595959"/>
                </a:solidFill>
                <a:latin typeface="Arial"/>
                <a:cs typeface="Arial"/>
              </a:rPr>
              <a:t>rule-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engine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secure,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conflict-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free</a:t>
            </a:r>
            <a:r>
              <a:rPr dirty="0" sz="800" spc="3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allocation.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47294" y="302841"/>
            <a:ext cx="3071495" cy="244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80"/>
              <a:t>Integration</a:t>
            </a:r>
            <a:r>
              <a:rPr dirty="0" spc="20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 spc="60"/>
              <a:t>PBL</a:t>
            </a:r>
            <a:r>
              <a:rPr dirty="0" spc="25"/>
              <a:t> </a:t>
            </a:r>
            <a:r>
              <a:rPr dirty="0" spc="-50"/>
              <a:t>Course</a:t>
            </a:r>
            <a:r>
              <a:rPr dirty="0" spc="25"/>
              <a:t> </a:t>
            </a:r>
            <a:r>
              <a:rPr dirty="0" spc="-35"/>
              <a:t>Concepts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0781" y="97462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48081" y="1003031"/>
            <a:ext cx="34163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50" b="1">
                <a:latin typeface="Tahoma"/>
                <a:cs typeface="Tahoma"/>
              </a:rPr>
              <a:t>Course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9891" y="1003031"/>
            <a:ext cx="8083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20">
                <a:latin typeface="Arial"/>
                <a:cs typeface="Arial"/>
              </a:rPr>
              <a:t>Concepts</a:t>
            </a:r>
            <a:r>
              <a:rPr dirty="0" sz="800" spc="1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Applied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50548" y="1003031"/>
            <a:ext cx="71882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>
                <a:latin typeface="Arial"/>
                <a:cs typeface="Arial"/>
              </a:rPr>
              <a:t>Project</a:t>
            </a:r>
            <a:r>
              <a:rPr dirty="0" sz="800" spc="8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0781" y="1186510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48081" y="1212835"/>
            <a:ext cx="995044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b="1">
                <a:latin typeface="Tahoma"/>
                <a:cs typeface="Tahoma"/>
              </a:rPr>
              <a:t>Data</a:t>
            </a:r>
            <a:r>
              <a:rPr dirty="0" sz="800" spc="-5" b="1">
                <a:latin typeface="Tahoma"/>
                <a:cs typeface="Tahoma"/>
              </a:rPr>
              <a:t> </a:t>
            </a:r>
            <a:r>
              <a:rPr dirty="0" sz="800" spc="-50" b="1">
                <a:latin typeface="Tahoma"/>
                <a:cs typeface="Tahoma"/>
              </a:rPr>
              <a:t>Structures</a:t>
            </a:r>
            <a:r>
              <a:rPr dirty="0" sz="800" b="1">
                <a:latin typeface="Tahoma"/>
                <a:cs typeface="Tahoma"/>
              </a:rPr>
              <a:t> </a:t>
            </a:r>
            <a:r>
              <a:rPr dirty="0" sz="800" spc="-10" b="1">
                <a:latin typeface="Tahoma"/>
                <a:cs typeface="Tahoma"/>
              </a:rPr>
              <a:t>in</a:t>
            </a:r>
            <a:r>
              <a:rPr dirty="0" sz="800" b="1">
                <a:latin typeface="Tahoma"/>
                <a:cs typeface="Tahoma"/>
              </a:rPr>
              <a:t> </a:t>
            </a:r>
            <a:r>
              <a:rPr dirty="0" sz="800" spc="-50" b="1">
                <a:latin typeface="Tahoma"/>
                <a:cs typeface="Tahoma"/>
              </a:rPr>
              <a:t>C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9917" y="1212835"/>
            <a:ext cx="2544445" cy="628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Min-Heap (priority </a:t>
            </a:r>
            <a:r>
              <a:rPr dirty="0" sz="800" spc="-55">
                <a:latin typeface="Arial"/>
                <a:cs typeface="Arial"/>
              </a:rPr>
              <a:t>queue</a:t>
            </a:r>
            <a:r>
              <a:rPr dirty="0" sz="800">
                <a:latin typeface="Arial"/>
                <a:cs typeface="Arial"/>
              </a:rPr>
              <a:t> for </a:t>
            </a:r>
            <a:r>
              <a:rPr dirty="0" sz="800" spc="-35">
                <a:latin typeface="Arial"/>
                <a:cs typeface="Arial"/>
              </a:rPr>
              <a:t>special-</a:t>
            </a:r>
            <a:r>
              <a:rPr dirty="0" sz="800" spc="-40">
                <a:latin typeface="Arial"/>
                <a:cs typeface="Arial"/>
              </a:rPr>
              <a:t>needs</a:t>
            </a:r>
            <a:r>
              <a:rPr dirty="0" sz="800" spc="-10">
                <a:latin typeface="Arial"/>
                <a:cs typeface="Arial"/>
              </a:rPr>
              <a:t> seating), </a:t>
            </a:r>
            <a:r>
              <a:rPr dirty="0" sz="800" spc="-20">
                <a:latin typeface="Arial"/>
                <a:cs typeface="Arial"/>
              </a:rPr>
              <a:t>Dou-</a:t>
            </a:r>
            <a:r>
              <a:rPr dirty="0" sz="800">
                <a:latin typeface="Arial"/>
                <a:cs typeface="Arial"/>
              </a:rPr>
              <a:t>bly Linked List (2D interleaved seating grid), </a:t>
            </a:r>
            <a:r>
              <a:rPr dirty="0" sz="800" spc="-10">
                <a:latin typeface="Arial"/>
                <a:cs typeface="Arial"/>
              </a:rPr>
              <a:t>Quick-</a:t>
            </a:r>
            <a:r>
              <a:rPr dirty="0" sz="800">
                <a:latin typeface="Arial"/>
                <a:cs typeface="Arial"/>
              </a:rPr>
              <a:t>Sort/MergeSort</a:t>
            </a:r>
            <a:r>
              <a:rPr dirty="0" sz="800" spc="2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(roster</a:t>
            </a:r>
            <a:r>
              <a:rPr dirty="0" sz="800" spc="2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sorting)</a:t>
            </a:r>
            <a:r>
              <a:rPr dirty="0" sz="800" spc="2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Arrays</a:t>
            </a:r>
            <a:r>
              <a:rPr dirty="0" sz="800" spc="2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(student/exam records), Hashing </a:t>
            </a:r>
            <a:r>
              <a:rPr dirty="0" sz="800">
                <a:latin typeface="Arial"/>
                <a:cs typeface="Arial"/>
              </a:rPr>
              <a:t>(fast </a:t>
            </a:r>
            <a:r>
              <a:rPr dirty="0" sz="800" spc="-10">
                <a:latin typeface="Arial"/>
                <a:cs typeface="Arial"/>
              </a:rPr>
              <a:t>record </a:t>
            </a:r>
            <a:r>
              <a:rPr dirty="0" sz="800">
                <a:latin typeface="Arial"/>
                <a:cs typeface="Arial"/>
              </a:rPr>
              <a:t>retrieval), </a:t>
            </a:r>
            <a:r>
              <a:rPr dirty="0" sz="800" spc="-25">
                <a:latin typeface="Arial"/>
                <a:cs typeface="Arial"/>
              </a:rPr>
              <a:t>Searching </a:t>
            </a:r>
            <a:r>
              <a:rPr dirty="0" sz="800" spc="-10">
                <a:latin typeface="Arial"/>
                <a:cs typeface="Arial"/>
              </a:rPr>
              <a:t>(stu-</a:t>
            </a:r>
            <a:r>
              <a:rPr dirty="0" sz="800">
                <a:latin typeface="Arial"/>
                <a:cs typeface="Arial"/>
              </a:rPr>
              <a:t>dent/teacher</a:t>
            </a:r>
            <a:r>
              <a:rPr dirty="0" sz="800" spc="4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record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lookup)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50511" y="1212835"/>
            <a:ext cx="93726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>
                <a:latin typeface="Arial"/>
                <a:cs typeface="Arial"/>
              </a:rPr>
              <a:t>Seating</a:t>
            </a:r>
            <a:r>
              <a:rPr dirty="0" sz="800" spc="-2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Engine</a:t>
            </a:r>
            <a:r>
              <a:rPr dirty="0" sz="800" spc="-20">
                <a:latin typeface="Arial"/>
                <a:cs typeface="Arial"/>
              </a:rPr>
              <a:t> Core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0781" y="1877110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48081" y="1903436"/>
            <a:ext cx="81788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b="1">
                <a:latin typeface="Tahoma"/>
                <a:cs typeface="Tahoma"/>
              </a:rPr>
              <a:t>OOPs</a:t>
            </a:r>
            <a:r>
              <a:rPr dirty="0" sz="800" spc="25" b="1">
                <a:latin typeface="Tahoma"/>
                <a:cs typeface="Tahoma"/>
              </a:rPr>
              <a:t> </a:t>
            </a:r>
            <a:r>
              <a:rPr dirty="0" sz="800" spc="-55" b="1">
                <a:latin typeface="Tahoma"/>
                <a:cs typeface="Tahoma"/>
              </a:rPr>
              <a:t>with</a:t>
            </a:r>
            <a:r>
              <a:rPr dirty="0" sz="800" spc="30" b="1">
                <a:latin typeface="Tahoma"/>
                <a:cs typeface="Tahoma"/>
              </a:rPr>
              <a:t> </a:t>
            </a:r>
            <a:r>
              <a:rPr dirty="0" sz="800" spc="-25" b="1">
                <a:latin typeface="Tahoma"/>
                <a:cs typeface="Tahoma"/>
              </a:rPr>
              <a:t>C++</a:t>
            </a:r>
            <a:endParaRPr sz="8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79917" y="1903436"/>
            <a:ext cx="2544445" cy="7480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Classes</a:t>
            </a:r>
            <a:r>
              <a:rPr dirty="0" sz="800" spc="310">
                <a:latin typeface="Arial"/>
                <a:cs typeface="Arial"/>
              </a:rPr>
              <a:t> 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310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Encapsulation</a:t>
            </a:r>
            <a:r>
              <a:rPr dirty="0" sz="800" spc="310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(</a:t>
            </a:r>
            <a:r>
              <a:rPr dirty="0" sz="800">
                <a:latin typeface="Cambria"/>
                <a:cs typeface="Cambria"/>
              </a:rPr>
              <a:t>Student</a:t>
            </a:r>
            <a:r>
              <a:rPr dirty="0" sz="800">
                <a:latin typeface="Arial"/>
                <a:cs typeface="Arial"/>
              </a:rPr>
              <a:t>,</a:t>
            </a:r>
            <a:r>
              <a:rPr dirty="0" sz="800" spc="409">
                <a:latin typeface="Arial"/>
                <a:cs typeface="Arial"/>
              </a:rPr>
              <a:t>  </a:t>
            </a:r>
            <a:r>
              <a:rPr dirty="0" sz="800" spc="-10">
                <a:latin typeface="Cambria"/>
                <a:cs typeface="Cambria"/>
              </a:rPr>
              <a:t>ExamHall</a:t>
            </a:r>
            <a:r>
              <a:rPr dirty="0" sz="800" spc="-10">
                <a:latin typeface="Arial"/>
                <a:cs typeface="Arial"/>
              </a:rPr>
              <a:t>, </a:t>
            </a:r>
            <a:r>
              <a:rPr dirty="0" sz="800" spc="60">
                <a:latin typeface="Cambria"/>
                <a:cs typeface="Cambria"/>
              </a:rPr>
              <a:t>Faculty</a:t>
            </a:r>
            <a:r>
              <a:rPr dirty="0" sz="800" spc="60">
                <a:latin typeface="Arial"/>
                <a:cs typeface="Arial"/>
              </a:rPr>
              <a:t>),</a:t>
            </a:r>
            <a:r>
              <a:rPr dirty="0" sz="800" spc="250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Inheritance</a:t>
            </a:r>
            <a:r>
              <a:rPr dirty="0" sz="800" spc="185">
                <a:latin typeface="Arial"/>
                <a:cs typeface="Arial"/>
              </a:rPr>
              <a:t> 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185">
                <a:latin typeface="Arial"/>
                <a:cs typeface="Arial"/>
              </a:rPr>
              <a:t>  </a:t>
            </a:r>
            <a:r>
              <a:rPr dirty="0" sz="800">
                <a:latin typeface="Arial"/>
                <a:cs typeface="Arial"/>
              </a:rPr>
              <a:t>Polymorphism</a:t>
            </a:r>
            <a:r>
              <a:rPr dirty="0" sz="800" spc="185">
                <a:latin typeface="Arial"/>
                <a:cs typeface="Arial"/>
              </a:rPr>
              <a:t>  </a:t>
            </a:r>
            <a:r>
              <a:rPr dirty="0" sz="800" spc="-10">
                <a:latin typeface="Arial"/>
                <a:cs typeface="Arial"/>
              </a:rPr>
              <a:t>(abstract </a:t>
            </a:r>
            <a:r>
              <a:rPr dirty="0" sz="800" spc="65">
                <a:latin typeface="Cambria"/>
                <a:cs typeface="Cambria"/>
              </a:rPr>
              <a:t>AllocationStrategy</a:t>
            </a:r>
            <a:r>
              <a:rPr dirty="0" sz="800" spc="65">
                <a:latin typeface="Arial"/>
                <a:cs typeface="Arial"/>
              </a:rPr>
              <a:t>),</a:t>
            </a:r>
            <a:r>
              <a:rPr dirty="0" sz="800" spc="32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Operator</a:t>
            </a:r>
            <a:r>
              <a:rPr dirty="0" sz="800" spc="2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Overloading</a:t>
            </a:r>
            <a:r>
              <a:rPr dirty="0" sz="800" spc="26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(</a:t>
            </a:r>
            <a:r>
              <a:rPr dirty="0" sz="800">
                <a:latin typeface="Cambria"/>
                <a:cs typeface="Cambria"/>
              </a:rPr>
              <a:t>&lt;&lt;</a:t>
            </a:r>
            <a:r>
              <a:rPr dirty="0" sz="800" spc="310">
                <a:latin typeface="Cambria"/>
                <a:cs typeface="Cambria"/>
              </a:rPr>
              <a:t> </a:t>
            </a:r>
            <a:r>
              <a:rPr dirty="0" sz="800" spc="-25">
                <a:latin typeface="Arial"/>
                <a:cs typeface="Arial"/>
              </a:rPr>
              <a:t>for</a:t>
            </a:r>
            <a:r>
              <a:rPr dirty="0" sz="800">
                <a:latin typeface="Arial"/>
                <a:cs typeface="Arial"/>
              </a:rPr>
              <a:t> chart rendering, </a:t>
            </a:r>
            <a:r>
              <a:rPr dirty="0" sz="800">
                <a:latin typeface="Cambria"/>
                <a:cs typeface="Cambria"/>
              </a:rPr>
              <a:t>+ </a:t>
            </a:r>
            <a:r>
              <a:rPr dirty="0" sz="800">
                <a:latin typeface="Arial"/>
                <a:cs typeface="Arial"/>
              </a:rPr>
              <a:t>for merging hall capacities), </a:t>
            </a:r>
            <a:r>
              <a:rPr dirty="0" sz="800" spc="-20">
                <a:latin typeface="Arial"/>
                <a:cs typeface="Arial"/>
              </a:rPr>
              <a:t>Con-</a:t>
            </a:r>
            <a:r>
              <a:rPr dirty="0" sz="800">
                <a:latin typeface="Arial"/>
                <a:cs typeface="Arial"/>
              </a:rPr>
              <a:t>structors/Destructors,</a:t>
            </a:r>
            <a:r>
              <a:rPr dirty="0" sz="800" spc="21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Exception</a:t>
            </a:r>
            <a:r>
              <a:rPr dirty="0" sz="800" spc="18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Handling</a:t>
            </a:r>
            <a:r>
              <a:rPr dirty="0" sz="800" spc="180">
                <a:latin typeface="Arial"/>
                <a:cs typeface="Arial"/>
              </a:rPr>
              <a:t> </a:t>
            </a:r>
            <a:r>
              <a:rPr dirty="0" sz="800" spc="70">
                <a:latin typeface="Arial"/>
                <a:cs typeface="Arial"/>
              </a:rPr>
              <a:t>(</a:t>
            </a:r>
            <a:r>
              <a:rPr dirty="0" sz="800" spc="70">
                <a:latin typeface="Cambria"/>
                <a:cs typeface="Cambria"/>
              </a:rPr>
              <a:t>try-</a:t>
            </a:r>
            <a:r>
              <a:rPr dirty="0" sz="800" spc="75">
                <a:latin typeface="Cambria"/>
                <a:cs typeface="Cambria"/>
              </a:rPr>
              <a:t>catch </a:t>
            </a:r>
            <a:r>
              <a:rPr dirty="0" sz="800">
                <a:latin typeface="Arial"/>
                <a:cs typeface="Arial"/>
              </a:rPr>
              <a:t>for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subject/faculty</a:t>
            </a:r>
            <a:r>
              <a:rPr dirty="0" sz="800" spc="8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rule</a:t>
            </a:r>
            <a:r>
              <a:rPr dirty="0" sz="800" spc="8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violations),</a:t>
            </a:r>
            <a:r>
              <a:rPr dirty="0" sz="800" spc="8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File</a:t>
            </a:r>
            <a:r>
              <a:rPr dirty="0" sz="800" spc="80">
                <a:latin typeface="Arial"/>
                <a:cs typeface="Arial"/>
              </a:rPr>
              <a:t> </a:t>
            </a:r>
            <a:r>
              <a:rPr dirty="0" sz="800" spc="65">
                <a:latin typeface="Arial"/>
                <a:cs typeface="Arial"/>
              </a:rPr>
              <a:t>I/O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 spc="35">
                <a:latin typeface="Arial"/>
                <a:cs typeface="Arial"/>
              </a:rPr>
              <a:t>(</a:t>
            </a:r>
            <a:r>
              <a:rPr dirty="0" sz="800" spc="35">
                <a:latin typeface="Cambria"/>
                <a:cs typeface="Cambria"/>
              </a:rPr>
              <a:t>fstream</a:t>
            </a:r>
            <a:r>
              <a:rPr dirty="0" sz="800" spc="35">
                <a:latin typeface="Arial"/>
                <a:cs typeface="Arial"/>
              </a:rPr>
              <a:t>)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50511" y="1903436"/>
            <a:ext cx="96139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>
                <a:latin typeface="Arial"/>
                <a:cs typeface="Arial"/>
              </a:rPr>
              <a:t>System</a:t>
            </a:r>
            <a:r>
              <a:rPr dirty="0" sz="800" spc="10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Architecture </a:t>
            </a:r>
            <a:r>
              <a:rPr dirty="0" sz="800" spc="100">
                <a:latin typeface="Arial"/>
                <a:cs typeface="Arial"/>
              </a:rPr>
              <a:t>&amp;</a:t>
            </a:r>
            <a:r>
              <a:rPr dirty="0" sz="800" spc="65">
                <a:latin typeface="Arial"/>
                <a:cs typeface="Arial"/>
              </a:rPr>
              <a:t> I/O </a:t>
            </a:r>
            <a:r>
              <a:rPr dirty="0" sz="800" spc="-10">
                <a:latin typeface="Arial"/>
                <a:cs typeface="Arial"/>
              </a:rPr>
              <a:t>Layer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60781" y="2689999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 h="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4839" y="2817596"/>
            <a:ext cx="4410710" cy="166370"/>
          </a:xfrm>
          <a:prstGeom prst="rect">
            <a:avLst/>
          </a:prstGeom>
          <a:solidFill>
            <a:srgbClr val="EDF3FA"/>
          </a:solidFill>
        </p:spPr>
        <p:txBody>
          <a:bodyPr wrap="square" lIns="0" tIns="6350" rIns="0" bIns="0" rtlCol="0" vert="horz">
            <a:spAutoFit/>
          </a:bodyPr>
          <a:lstStyle/>
          <a:p>
            <a:pPr marL="337820">
              <a:lnSpc>
                <a:spcPct val="100000"/>
              </a:lnSpc>
              <a:spcBef>
                <a:spcPts val="50"/>
              </a:spcBef>
            </a:pPr>
            <a:r>
              <a:rPr dirty="0" sz="800" spc="-50" b="1">
                <a:latin typeface="Tahoma"/>
                <a:cs typeface="Tahoma"/>
              </a:rPr>
              <a:t>Requirement:</a:t>
            </a:r>
            <a:r>
              <a:rPr dirty="0" sz="800" spc="110" b="1">
                <a:latin typeface="Tahoma"/>
                <a:cs typeface="Tahoma"/>
              </a:rPr>
              <a:t> </a:t>
            </a:r>
            <a:r>
              <a:rPr dirty="0" sz="800">
                <a:latin typeface="Arial"/>
                <a:cs typeface="Arial"/>
              </a:rPr>
              <a:t>Demonstrate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meaningful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integration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of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both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subjects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in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55" b="1">
                <a:latin typeface="Tahoma"/>
                <a:cs typeface="Tahoma"/>
              </a:rPr>
              <a:t>one</a:t>
            </a:r>
            <a:r>
              <a:rPr dirty="0" sz="800" spc="25" b="1">
                <a:latin typeface="Tahoma"/>
                <a:cs typeface="Tahoma"/>
              </a:rPr>
              <a:t> </a:t>
            </a:r>
            <a:r>
              <a:rPr dirty="0" sz="800" spc="-10">
                <a:latin typeface="Arial"/>
                <a:cs typeface="Arial"/>
              </a:rPr>
              <a:t>project.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dirty="0" spc="-20"/>
              <a:t>8</a:t>
            </a:fld>
            <a:r>
              <a:rPr dirty="0" spc="-20"/>
              <a:t>/10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55"/>
              <a:t>System</a:t>
            </a:r>
            <a:r>
              <a:rPr dirty="0" spc="25"/>
              <a:t> </a:t>
            </a:r>
            <a:r>
              <a:rPr dirty="0" spc="-50"/>
              <a:t>Architecture</a:t>
            </a:r>
            <a:r>
              <a:rPr dirty="0" spc="30"/>
              <a:t> </a:t>
            </a:r>
            <a:r>
              <a:rPr dirty="0"/>
              <a:t>/</a:t>
            </a:r>
            <a:r>
              <a:rPr dirty="0" spc="30"/>
              <a:t> </a:t>
            </a:r>
            <a:r>
              <a:rPr dirty="0" spc="-70"/>
              <a:t>Workflow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428336" y="1201623"/>
            <a:ext cx="779145" cy="337185"/>
            <a:chOff x="428336" y="1201623"/>
            <a:chExt cx="779145" cy="337185"/>
          </a:xfrm>
        </p:grpSpPr>
        <p:sp>
          <p:nvSpPr>
            <p:cNvPr id="5" name="object 5"/>
            <p:cNvSpPr/>
            <p:nvPr/>
          </p:nvSpPr>
          <p:spPr>
            <a:xfrm>
              <a:off x="430876" y="1204163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5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6" y="328076"/>
                  </a:lnTo>
                  <a:lnTo>
                    <a:pt x="759183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30876" y="1204163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5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6" y="328076"/>
                  </a:lnTo>
                  <a:lnTo>
                    <a:pt x="759183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3" y="14823"/>
                  </a:lnTo>
                  <a:lnTo>
                    <a:pt x="743096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66711" y="1198973"/>
            <a:ext cx="30226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95"/>
              </a:spcBef>
            </a:pPr>
            <a:r>
              <a:rPr dirty="0" sz="1000" spc="-55">
                <a:latin typeface="Tahoma"/>
                <a:cs typeface="Tahoma"/>
              </a:rPr>
              <a:t>Input </a:t>
            </a:r>
            <a:r>
              <a:rPr dirty="0" sz="1000" spc="-2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59407" y="1189322"/>
            <a:ext cx="779145" cy="361950"/>
            <a:chOff x="1459407" y="1189322"/>
            <a:chExt cx="779145" cy="361950"/>
          </a:xfrm>
        </p:grpSpPr>
        <p:sp>
          <p:nvSpPr>
            <p:cNvPr id="9" name="object 9"/>
            <p:cNvSpPr/>
            <p:nvPr/>
          </p:nvSpPr>
          <p:spPr>
            <a:xfrm>
              <a:off x="1461947" y="11918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61947" y="11918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7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7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556651" y="1186680"/>
            <a:ext cx="58420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49860">
              <a:lnSpc>
                <a:spcPct val="100000"/>
              </a:lnSpc>
              <a:spcBef>
                <a:spcPts val="95"/>
              </a:spcBef>
            </a:pPr>
            <a:r>
              <a:rPr dirty="0" sz="1000" spc="-20">
                <a:latin typeface="Tahoma"/>
                <a:cs typeface="Tahoma"/>
              </a:rPr>
              <a:t>Data </a:t>
            </a:r>
            <a:r>
              <a:rPr dirty="0" sz="1000" spc="-40">
                <a:latin typeface="Tahoma"/>
                <a:cs typeface="Tahoma"/>
              </a:rPr>
              <a:t>Processing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490479" y="1189322"/>
            <a:ext cx="779145" cy="361950"/>
            <a:chOff x="2490479" y="1189322"/>
            <a:chExt cx="779145" cy="361950"/>
          </a:xfrm>
        </p:grpSpPr>
        <p:sp>
          <p:nvSpPr>
            <p:cNvPr id="13" name="object 13"/>
            <p:cNvSpPr/>
            <p:nvPr/>
          </p:nvSpPr>
          <p:spPr>
            <a:xfrm>
              <a:off x="2493019" y="11918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93019" y="11918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2587358" y="1186680"/>
            <a:ext cx="58547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latin typeface="Tahoma"/>
                <a:cs typeface="Tahoma"/>
              </a:rPr>
              <a:t>C++</a:t>
            </a:r>
            <a:r>
              <a:rPr dirty="0" sz="1000" spc="14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Core </a:t>
            </a:r>
            <a:r>
              <a:rPr dirty="0" sz="1000" spc="-10">
                <a:latin typeface="Tahoma"/>
                <a:cs typeface="Tahoma"/>
              </a:rPr>
              <a:t>Engine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21551" y="1201623"/>
            <a:ext cx="779145" cy="337185"/>
            <a:chOff x="3521551" y="1201623"/>
            <a:chExt cx="779145" cy="337185"/>
          </a:xfrm>
        </p:grpSpPr>
        <p:sp>
          <p:nvSpPr>
            <p:cNvPr id="17" name="object 17"/>
            <p:cNvSpPr/>
            <p:nvPr/>
          </p:nvSpPr>
          <p:spPr>
            <a:xfrm>
              <a:off x="3524091" y="1204163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524091" y="1204163"/>
              <a:ext cx="774065" cy="332105"/>
            </a:xfrm>
            <a:custGeom>
              <a:avLst/>
              <a:gdLst/>
              <a:ahLst/>
              <a:cxnLst/>
              <a:rect l="l" t="t" r="r" b="b"/>
              <a:pathLst>
                <a:path w="774064" h="332105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81442"/>
                  </a:lnTo>
                  <a:lnTo>
                    <a:pt x="3977" y="301142"/>
                  </a:lnTo>
                  <a:lnTo>
                    <a:pt x="14823" y="317229"/>
                  </a:lnTo>
                  <a:lnTo>
                    <a:pt x="30910" y="328076"/>
                  </a:lnTo>
                  <a:lnTo>
                    <a:pt x="50610" y="332053"/>
                  </a:lnTo>
                  <a:lnTo>
                    <a:pt x="723396" y="332053"/>
                  </a:lnTo>
                  <a:lnTo>
                    <a:pt x="743097" y="328076"/>
                  </a:lnTo>
                  <a:lnTo>
                    <a:pt x="759184" y="317229"/>
                  </a:lnTo>
                  <a:lnTo>
                    <a:pt x="770030" y="301142"/>
                  </a:lnTo>
                  <a:lnTo>
                    <a:pt x="774007" y="281442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628440" y="1198973"/>
            <a:ext cx="56515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1200"/>
              </a:lnSpc>
              <a:spcBef>
                <a:spcPts val="95"/>
              </a:spcBef>
            </a:pPr>
            <a:r>
              <a:rPr dirty="0" sz="1000" spc="-25">
                <a:latin typeface="Tahoma"/>
                <a:cs typeface="Tahoma"/>
              </a:rPr>
              <a:t>DSA</a:t>
            </a:r>
            <a:endParaRPr sz="1000">
              <a:latin typeface="Tahoma"/>
              <a:cs typeface="Tahoma"/>
            </a:endParaRPr>
          </a:p>
          <a:p>
            <a:pPr algn="ctr">
              <a:lnSpc>
                <a:spcPts val="1200"/>
              </a:lnSpc>
            </a:pPr>
            <a:r>
              <a:rPr dirty="0" sz="1000" spc="-20">
                <a:latin typeface="Tahoma"/>
                <a:cs typeface="Tahoma"/>
              </a:rPr>
              <a:t>Structures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52623" y="1189322"/>
            <a:ext cx="779145" cy="361950"/>
            <a:chOff x="4552623" y="1189322"/>
            <a:chExt cx="779145" cy="361950"/>
          </a:xfrm>
        </p:grpSpPr>
        <p:sp>
          <p:nvSpPr>
            <p:cNvPr id="21" name="object 21"/>
            <p:cNvSpPr/>
            <p:nvPr/>
          </p:nvSpPr>
          <p:spPr>
            <a:xfrm>
              <a:off x="4555163" y="11918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555163" y="1191862"/>
              <a:ext cx="774065" cy="356870"/>
            </a:xfrm>
            <a:custGeom>
              <a:avLst/>
              <a:gdLst/>
              <a:ahLst/>
              <a:cxnLst/>
              <a:rect l="l" t="t" r="r" b="b"/>
              <a:pathLst>
                <a:path w="774064" h="356869">
                  <a:moveTo>
                    <a:pt x="723396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6045"/>
                  </a:lnTo>
                  <a:lnTo>
                    <a:pt x="3977" y="325745"/>
                  </a:lnTo>
                  <a:lnTo>
                    <a:pt x="14823" y="341832"/>
                  </a:lnTo>
                  <a:lnTo>
                    <a:pt x="30910" y="352678"/>
                  </a:lnTo>
                  <a:lnTo>
                    <a:pt x="50610" y="356656"/>
                  </a:lnTo>
                  <a:lnTo>
                    <a:pt x="723396" y="356656"/>
                  </a:lnTo>
                  <a:lnTo>
                    <a:pt x="743097" y="352678"/>
                  </a:lnTo>
                  <a:lnTo>
                    <a:pt x="759184" y="341832"/>
                  </a:lnTo>
                  <a:lnTo>
                    <a:pt x="770030" y="325745"/>
                  </a:lnTo>
                  <a:lnTo>
                    <a:pt x="774007" y="306045"/>
                  </a:lnTo>
                  <a:lnTo>
                    <a:pt x="774007" y="50610"/>
                  </a:lnTo>
                  <a:lnTo>
                    <a:pt x="770030" y="30910"/>
                  </a:lnTo>
                  <a:lnTo>
                    <a:pt x="759184" y="14823"/>
                  </a:lnTo>
                  <a:lnTo>
                    <a:pt x="743097" y="3977"/>
                  </a:lnTo>
                  <a:lnTo>
                    <a:pt x="723396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739106" y="1186680"/>
            <a:ext cx="406400" cy="3295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latin typeface="Tahoma"/>
                <a:cs typeface="Tahoma"/>
              </a:rPr>
              <a:t>System </a:t>
            </a:r>
            <a:r>
              <a:rPr dirty="0" sz="1000" spc="-25">
                <a:latin typeface="Tahoma"/>
                <a:cs typeface="Tahoma"/>
              </a:rPr>
              <a:t>Output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207414" y="1346940"/>
            <a:ext cx="3329940" cy="46990"/>
            <a:chOff x="1207414" y="1346940"/>
            <a:chExt cx="3329940" cy="46990"/>
          </a:xfrm>
        </p:grpSpPr>
        <p:sp>
          <p:nvSpPr>
            <p:cNvPr id="25" name="object 25"/>
            <p:cNvSpPr/>
            <p:nvPr/>
          </p:nvSpPr>
          <p:spPr>
            <a:xfrm>
              <a:off x="1207414" y="1370190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1392477" y="1352001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392477" y="1352001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238486" y="1370190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423549" y="1352001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2423549" y="1352001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269557" y="1370190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454621" y="1352001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3454621" y="1352001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4300629" y="1370190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 h="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485692" y="1352001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485692" y="1352001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321894" y="1705235"/>
            <a:ext cx="2378710" cy="111379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000" spc="-35" b="1">
                <a:solidFill>
                  <a:srgbClr val="133768"/>
                </a:solidFill>
                <a:latin typeface="Tahoma"/>
                <a:cs typeface="Tahoma"/>
              </a:rPr>
              <a:t>Major</a:t>
            </a: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 Components</a:t>
            </a:r>
            <a:endParaRPr sz="1000">
              <a:latin typeface="Tahoma"/>
              <a:cs typeface="Tahoma"/>
            </a:endParaRPr>
          </a:p>
          <a:p>
            <a:pPr marL="314960" marR="30480" indent="-168275">
              <a:lnSpc>
                <a:spcPct val="100000"/>
              </a:lnSpc>
              <a:spcBef>
                <a:spcPts val="5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40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Data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0">
                <a:latin typeface="Tahoma"/>
                <a:cs typeface="Tahoma"/>
              </a:rPr>
              <a:t>Input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Module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(Students,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Exams, Rooms,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Faculty)</a:t>
            </a:r>
            <a:endParaRPr sz="1000">
              <a:latin typeface="Tahoma"/>
              <a:cs typeface="Tahoma"/>
            </a:endParaRPr>
          </a:p>
          <a:p>
            <a:pPr marL="314960" marR="269240" indent="-168275">
              <a:lnSpc>
                <a:spcPct val="100000"/>
              </a:lnSpc>
              <a:spcBef>
                <a:spcPts val="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33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C++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Seating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Engine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(DSA-</a:t>
            </a:r>
            <a:r>
              <a:rPr dirty="0" sz="1000" spc="-10">
                <a:latin typeface="Tahoma"/>
                <a:cs typeface="Tahoma"/>
              </a:rPr>
              <a:t>based allocation</a:t>
            </a:r>
            <a:r>
              <a:rPr dirty="0" sz="1000" spc="-6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rule</a:t>
            </a:r>
            <a:r>
              <a:rPr dirty="0" sz="1000" spc="-5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handling)</a:t>
            </a:r>
            <a:endParaRPr sz="1000">
              <a:latin typeface="Tahoma"/>
              <a:cs typeface="Tahoma"/>
            </a:endParaRPr>
          </a:p>
          <a:p>
            <a:pPr marL="147320">
              <a:lnSpc>
                <a:spcPct val="100000"/>
              </a:lnSpc>
              <a:spcBef>
                <a:spcPts val="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19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Student,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Teacher</a:t>
            </a:r>
            <a:r>
              <a:rPr dirty="0" sz="1000" spc="235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Admin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Modules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dirty="0" spc="-20"/>
              <a:t>8</a:t>
            </a:fld>
            <a:r>
              <a:rPr dirty="0" spc="-20"/>
              <a:t>/10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2942717" y="1712258"/>
            <a:ext cx="2466975" cy="9620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Data</a:t>
            </a:r>
            <a:r>
              <a:rPr dirty="0" sz="1000" spc="-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b="1">
                <a:solidFill>
                  <a:srgbClr val="133768"/>
                </a:solidFill>
                <a:latin typeface="Tahoma"/>
                <a:cs typeface="Tahoma"/>
              </a:rPr>
              <a:t>/ </a:t>
            </a:r>
            <a:r>
              <a:rPr dirty="0" sz="1000" spc="-30" b="1">
                <a:solidFill>
                  <a:srgbClr val="133768"/>
                </a:solidFill>
                <a:latin typeface="Tahoma"/>
                <a:cs typeface="Tahoma"/>
              </a:rPr>
              <a:t>Control</a:t>
            </a:r>
            <a:r>
              <a:rPr dirty="0" sz="1000" spc="-5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spc="-20" b="1">
                <a:solidFill>
                  <a:srgbClr val="133768"/>
                </a:solidFill>
                <a:latin typeface="Tahoma"/>
                <a:cs typeface="Tahoma"/>
              </a:rPr>
              <a:t>Flow</a:t>
            </a:r>
            <a:endParaRPr sz="1000">
              <a:latin typeface="Tahoma"/>
              <a:cs typeface="Tahoma"/>
            </a:endParaRPr>
          </a:p>
          <a:p>
            <a:pPr marL="147320">
              <a:lnSpc>
                <a:spcPct val="100000"/>
              </a:lnSpc>
              <a:spcBef>
                <a:spcPts val="5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3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Collect</a:t>
            </a:r>
            <a:r>
              <a:rPr dirty="0" sz="1000" spc="-25">
                <a:latin typeface="Tahoma"/>
                <a:cs typeface="Tahoma"/>
              </a:rPr>
              <a:t> 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process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examination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records</a:t>
            </a:r>
            <a:endParaRPr sz="1000">
              <a:latin typeface="Tahoma"/>
              <a:cs typeface="Tahoma"/>
            </a:endParaRPr>
          </a:p>
          <a:p>
            <a:pPr marL="147320">
              <a:lnSpc>
                <a:spcPct val="100000"/>
              </a:lnSpc>
              <a:spcBef>
                <a:spcPts val="95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0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Apply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allocation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rules using</a:t>
            </a:r>
            <a:r>
              <a:rPr dirty="0" sz="1000" spc="-35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DSA</a:t>
            </a:r>
            <a:endParaRPr sz="1000">
              <a:latin typeface="Tahoma"/>
              <a:cs typeface="Tahoma"/>
            </a:endParaRPr>
          </a:p>
          <a:p>
            <a:pPr marL="314960" marR="402590" indent="-168275">
              <a:lnSpc>
                <a:spcPct val="100000"/>
              </a:lnSpc>
              <a:spcBef>
                <a:spcPts val="95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40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40">
                <a:latin typeface="Tahoma"/>
                <a:cs typeface="Tahoma"/>
              </a:rPr>
              <a:t>Generate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seating,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55">
                <a:latin typeface="Tahoma"/>
                <a:cs typeface="Tahoma"/>
              </a:rPr>
              <a:t>exam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duty </a:t>
            </a:r>
            <a:r>
              <a:rPr dirty="0" sz="1000" spc="-10">
                <a:latin typeface="Tahoma"/>
                <a:cs typeface="Tahoma"/>
              </a:rPr>
              <a:t>information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0"/>
              <a:t>Technology</a:t>
            </a:r>
            <a:r>
              <a:rPr dirty="0" spc="20"/>
              <a:t> </a:t>
            </a:r>
            <a:r>
              <a:rPr dirty="0" spc="-10"/>
              <a:t>Stack</a:t>
            </a:r>
            <a:r>
              <a:rPr dirty="0" spc="20"/>
              <a:t> </a:t>
            </a:r>
            <a:r>
              <a:rPr dirty="0" spc="85"/>
              <a:t>&amp;</a:t>
            </a:r>
            <a:r>
              <a:rPr dirty="0" spc="25"/>
              <a:t> </a:t>
            </a:r>
            <a:r>
              <a:rPr dirty="0" spc="-45"/>
              <a:t>Methodology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9193" y="1085938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347294" y="1064943"/>
            <a:ext cx="1120775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Technology</a:t>
            </a:r>
            <a:r>
              <a:rPr dirty="0" sz="1200" spc="75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33768"/>
                </a:solidFill>
                <a:latin typeface="Calibri"/>
                <a:cs typeface="Calibri"/>
              </a:rPr>
              <a:t>Stack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09193" y="1271651"/>
            <a:ext cx="2520950" cy="1499235"/>
            <a:chOff x="309193" y="1271651"/>
            <a:chExt cx="2520950" cy="149923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71651"/>
              <a:ext cx="2520810" cy="506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09193" y="1315914"/>
              <a:ext cx="2520950" cy="1454785"/>
            </a:xfrm>
            <a:custGeom>
              <a:avLst/>
              <a:gdLst/>
              <a:ahLst/>
              <a:cxnLst/>
              <a:rect l="l" t="t" r="r" b="b"/>
              <a:pathLst>
                <a:path w="2520950" h="1454785">
                  <a:moveTo>
                    <a:pt x="2520810" y="0"/>
                  </a:moveTo>
                  <a:lnTo>
                    <a:pt x="0" y="0"/>
                  </a:lnTo>
                  <a:lnTo>
                    <a:pt x="0" y="1403701"/>
                  </a:lnTo>
                  <a:lnTo>
                    <a:pt x="4008" y="1423425"/>
                  </a:lnTo>
                  <a:lnTo>
                    <a:pt x="14922" y="1439578"/>
                  </a:lnTo>
                  <a:lnTo>
                    <a:pt x="31075" y="1450493"/>
                  </a:lnTo>
                  <a:lnTo>
                    <a:pt x="50800" y="1454501"/>
                  </a:lnTo>
                  <a:lnTo>
                    <a:pt x="2470010" y="1454501"/>
                  </a:lnTo>
                  <a:lnTo>
                    <a:pt x="2489735" y="1450493"/>
                  </a:lnTo>
                  <a:lnTo>
                    <a:pt x="2505888" y="1439578"/>
                  </a:lnTo>
                  <a:lnTo>
                    <a:pt x="2516802" y="1423425"/>
                  </a:lnTo>
                  <a:lnTo>
                    <a:pt x="2520810" y="1403701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5740" marR="30480" indent="-168275">
              <a:lnSpc>
                <a:spcPct val="100000"/>
              </a:lnSpc>
              <a:spcBef>
                <a:spcPts val="95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32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/>
              <a:t>Programming:</a:t>
            </a:r>
            <a:r>
              <a:rPr dirty="0" sz="1000" spc="130"/>
              <a:t> </a:t>
            </a:r>
            <a:r>
              <a:rPr dirty="0" sz="1000"/>
              <a:t>C</a:t>
            </a:r>
            <a:r>
              <a:rPr dirty="0" sz="1000" spc="20"/>
              <a:t> </a:t>
            </a:r>
            <a:r>
              <a:rPr dirty="0" sz="1000" spc="-10"/>
              <a:t>for</a:t>
            </a:r>
            <a:r>
              <a:rPr dirty="0" sz="1000" spc="20"/>
              <a:t> </a:t>
            </a:r>
            <a:r>
              <a:rPr dirty="0" sz="1000"/>
              <a:t>DSA</a:t>
            </a:r>
            <a:r>
              <a:rPr dirty="0" sz="1000" spc="20"/>
              <a:t> </a:t>
            </a:r>
            <a:r>
              <a:rPr dirty="0" sz="1000" spc="-25"/>
              <a:t>and</a:t>
            </a:r>
            <a:r>
              <a:rPr dirty="0" sz="1000" spc="20"/>
              <a:t> </a:t>
            </a:r>
            <a:r>
              <a:rPr dirty="0" sz="1000"/>
              <a:t>C++</a:t>
            </a:r>
            <a:r>
              <a:rPr dirty="0" sz="1000" spc="20"/>
              <a:t> </a:t>
            </a:r>
            <a:r>
              <a:rPr dirty="0" sz="1000" spc="-25"/>
              <a:t>for </a:t>
            </a:r>
            <a:r>
              <a:rPr dirty="0" sz="1000"/>
              <a:t>OOP</a:t>
            </a:r>
            <a:r>
              <a:rPr dirty="0" sz="1000" spc="135"/>
              <a:t> </a:t>
            </a:r>
            <a:r>
              <a:rPr dirty="0" sz="1000" spc="-10"/>
              <a:t>implementation</a:t>
            </a:r>
            <a:endParaRPr sz="1000">
              <a:latin typeface="Lucida Sans Unicode"/>
              <a:cs typeface="Lucida Sans Unicode"/>
            </a:endParaRPr>
          </a:p>
          <a:p>
            <a:pPr marL="205740" marR="87630" indent="-168275">
              <a:lnSpc>
                <a:spcPct val="100000"/>
              </a:lnSpc>
              <a:spcBef>
                <a:spcPts val="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1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/>
              <a:t>Data</a:t>
            </a:r>
            <a:r>
              <a:rPr dirty="0" sz="1000" spc="-30"/>
              <a:t> </a:t>
            </a:r>
            <a:r>
              <a:rPr dirty="0" sz="1000" spc="-20"/>
              <a:t>Handling:</a:t>
            </a:r>
            <a:r>
              <a:rPr dirty="0" sz="1000" spc="70"/>
              <a:t> </a:t>
            </a:r>
            <a:r>
              <a:rPr dirty="0" sz="1000" spc="-25"/>
              <a:t>Student, </a:t>
            </a:r>
            <a:r>
              <a:rPr dirty="0" sz="1000" spc="-10"/>
              <a:t>Exam,</a:t>
            </a:r>
            <a:r>
              <a:rPr dirty="0" sz="1000" spc="-20"/>
              <a:t> Room </a:t>
            </a:r>
            <a:r>
              <a:rPr dirty="0" sz="1000" spc="-25"/>
              <a:t>and</a:t>
            </a:r>
            <a:r>
              <a:rPr dirty="0" sz="1000" spc="-55"/>
              <a:t> </a:t>
            </a:r>
            <a:r>
              <a:rPr dirty="0" sz="1000" spc="-10"/>
              <a:t>Faculty</a:t>
            </a:r>
            <a:r>
              <a:rPr dirty="0" sz="1000" spc="-70"/>
              <a:t> </a:t>
            </a:r>
            <a:r>
              <a:rPr dirty="0" sz="1000" spc="-10"/>
              <a:t>records</a:t>
            </a:r>
            <a:endParaRPr sz="1000">
              <a:latin typeface="Lucida Sans Unicode"/>
              <a:cs typeface="Lucida Sans Unicode"/>
            </a:endParaRPr>
          </a:p>
          <a:p>
            <a:pPr marL="205740" marR="92710" indent="-168275">
              <a:lnSpc>
                <a:spcPct val="100000"/>
              </a:lnSpc>
              <a:spcBef>
                <a:spcPts val="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1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0"/>
              <a:t>Core</a:t>
            </a:r>
            <a:r>
              <a:rPr dirty="0" sz="1000" spc="-25"/>
              <a:t> </a:t>
            </a:r>
            <a:r>
              <a:rPr dirty="0" sz="1000" spc="-40"/>
              <a:t>Techniques:</a:t>
            </a:r>
            <a:r>
              <a:rPr dirty="0" sz="1000" spc="70"/>
              <a:t> </a:t>
            </a:r>
            <a:r>
              <a:rPr dirty="0" sz="1000" spc="-25"/>
              <a:t>Arrays, </a:t>
            </a:r>
            <a:r>
              <a:rPr dirty="0" sz="1000" spc="-20"/>
              <a:t>Linked</a:t>
            </a:r>
            <a:r>
              <a:rPr dirty="0" sz="1000" spc="-25"/>
              <a:t> </a:t>
            </a:r>
            <a:r>
              <a:rPr dirty="0" sz="1000" spc="-10"/>
              <a:t>Lists, </a:t>
            </a:r>
            <a:r>
              <a:rPr dirty="0" sz="1000" spc="-30"/>
              <a:t>Hashing,</a:t>
            </a:r>
            <a:r>
              <a:rPr dirty="0" sz="1000" spc="-35"/>
              <a:t> Searching</a:t>
            </a:r>
            <a:r>
              <a:rPr dirty="0" sz="1000" spc="-30"/>
              <a:t> </a:t>
            </a:r>
            <a:r>
              <a:rPr dirty="0" sz="1000" spc="-25"/>
              <a:t>and</a:t>
            </a:r>
            <a:r>
              <a:rPr dirty="0" sz="1000" spc="-30"/>
              <a:t> </a:t>
            </a:r>
            <a:r>
              <a:rPr dirty="0" sz="1000" spc="-10"/>
              <a:t>Sorting</a:t>
            </a:r>
            <a:endParaRPr sz="1000">
              <a:latin typeface="Lucida Sans Unicode"/>
              <a:cs typeface="Lucida Sans Unicode"/>
            </a:endParaRPr>
          </a:p>
          <a:p>
            <a:pPr marL="205740" marR="31115" indent="-168275">
              <a:lnSpc>
                <a:spcPct val="100000"/>
              </a:lnSpc>
              <a:spcBef>
                <a:spcPts val="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3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/>
              <a:t>System</a:t>
            </a:r>
            <a:r>
              <a:rPr dirty="0" sz="1000" spc="-20"/>
              <a:t> Modules:</a:t>
            </a:r>
            <a:r>
              <a:rPr dirty="0" sz="1000" spc="75"/>
              <a:t> </a:t>
            </a:r>
            <a:r>
              <a:rPr dirty="0" sz="1000" spc="-25"/>
              <a:t>Student,</a:t>
            </a:r>
            <a:r>
              <a:rPr dirty="0" sz="1000" spc="-15"/>
              <a:t> </a:t>
            </a:r>
            <a:r>
              <a:rPr dirty="0" sz="1000" spc="-40"/>
              <a:t>Teacher</a:t>
            </a:r>
            <a:r>
              <a:rPr dirty="0" sz="1000" spc="-20"/>
              <a:t> </a:t>
            </a:r>
            <a:r>
              <a:rPr dirty="0" sz="1000" spc="-25"/>
              <a:t>and </a:t>
            </a:r>
            <a:r>
              <a:rPr dirty="0" sz="1000" spc="-10"/>
              <a:t>Admin</a:t>
            </a:r>
            <a:endParaRPr sz="1000">
              <a:latin typeface="Lucida Sans Unicode"/>
              <a:cs typeface="Lucida Sans Unicode"/>
            </a:endParaRPr>
          </a:p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6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/>
              <a:t>Version</a:t>
            </a:r>
            <a:r>
              <a:rPr dirty="0" sz="1000" spc="-5"/>
              <a:t> </a:t>
            </a:r>
            <a:r>
              <a:rPr dirty="0" sz="1000" spc="-10"/>
              <a:t>Control:</a:t>
            </a:r>
            <a:r>
              <a:rPr dirty="0" sz="1000" spc="90"/>
              <a:t> </a:t>
            </a:r>
            <a:r>
              <a:rPr dirty="0" sz="1000"/>
              <a:t>Git</a:t>
            </a:r>
            <a:r>
              <a:rPr dirty="0" sz="1000" spc="-10"/>
              <a:t> </a:t>
            </a:r>
            <a:r>
              <a:rPr dirty="0" sz="1000" spc="105"/>
              <a:t>/</a:t>
            </a:r>
            <a:r>
              <a:rPr dirty="0" sz="1000" spc="-5"/>
              <a:t> </a:t>
            </a:r>
            <a:r>
              <a:rPr dirty="0" sz="1000" spc="-10"/>
              <a:t>GitHub</a:t>
            </a:r>
            <a:endParaRPr sz="10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30016" y="1085938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968117" y="1064943"/>
            <a:ext cx="1687830" cy="2076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20">
                <a:solidFill>
                  <a:srgbClr val="133768"/>
                </a:solidFill>
                <a:latin typeface="Calibri"/>
                <a:cs typeface="Calibri"/>
              </a:rPr>
              <a:t>Development</a:t>
            </a:r>
            <a:r>
              <a:rPr dirty="0" sz="1200" spc="70">
                <a:solidFill>
                  <a:srgbClr val="13376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33768"/>
                </a:solidFill>
                <a:latin typeface="Calibri"/>
                <a:cs typeface="Calibri"/>
              </a:rPr>
              <a:t>Methodology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930016" y="1271651"/>
            <a:ext cx="2520950" cy="884555"/>
            <a:chOff x="2930016" y="1271651"/>
            <a:chExt cx="2520950" cy="88455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271651"/>
              <a:ext cx="2520810" cy="5060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930016" y="1315924"/>
              <a:ext cx="2520950" cy="840740"/>
            </a:xfrm>
            <a:custGeom>
              <a:avLst/>
              <a:gdLst/>
              <a:ahLst/>
              <a:cxnLst/>
              <a:rect l="l" t="t" r="r" b="b"/>
              <a:pathLst>
                <a:path w="2520950" h="840739">
                  <a:moveTo>
                    <a:pt x="2520810" y="0"/>
                  </a:moveTo>
                  <a:lnTo>
                    <a:pt x="0" y="0"/>
                  </a:lnTo>
                  <a:lnTo>
                    <a:pt x="0" y="789341"/>
                  </a:lnTo>
                  <a:lnTo>
                    <a:pt x="4008" y="809066"/>
                  </a:lnTo>
                  <a:lnTo>
                    <a:pt x="14922" y="825219"/>
                  </a:lnTo>
                  <a:lnTo>
                    <a:pt x="31075" y="836133"/>
                  </a:lnTo>
                  <a:lnTo>
                    <a:pt x="50800" y="840141"/>
                  </a:lnTo>
                  <a:lnTo>
                    <a:pt x="2470010" y="840141"/>
                  </a:lnTo>
                  <a:lnTo>
                    <a:pt x="2489735" y="836133"/>
                  </a:lnTo>
                  <a:lnTo>
                    <a:pt x="2505888" y="825219"/>
                  </a:lnTo>
                  <a:lnTo>
                    <a:pt x="2516802" y="809066"/>
                  </a:lnTo>
                  <a:lnTo>
                    <a:pt x="2520810" y="789341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77527" y="1277233"/>
            <a:ext cx="1850389" cy="84836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195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dirty="0" sz="1000" spc="-35">
                <a:latin typeface="Tahoma"/>
                <a:cs typeface="Tahoma"/>
              </a:rPr>
              <a:t>Requirement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Analysis</a:t>
            </a:r>
            <a:endParaRPr sz="100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spcBef>
                <a:spcPts val="95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dirty="0" sz="1000" spc="-3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Design</a:t>
            </a:r>
            <a:endParaRPr sz="100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spcBef>
                <a:spcPts val="95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dirty="0" sz="1000">
                <a:latin typeface="Tahoma"/>
                <a:cs typeface="Tahoma"/>
              </a:rPr>
              <a:t>DSA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6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OOP</a:t>
            </a:r>
            <a:r>
              <a:rPr dirty="0" sz="1000" spc="6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Implementation</a:t>
            </a:r>
            <a:endParaRPr sz="100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spcBef>
                <a:spcPts val="95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dirty="0" sz="1000">
                <a:latin typeface="Tahoma"/>
                <a:cs typeface="Tahoma"/>
              </a:rPr>
              <a:t>Module</a:t>
            </a:r>
            <a:r>
              <a:rPr dirty="0" sz="1000" spc="-7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Development</a:t>
            </a:r>
            <a:endParaRPr sz="100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spcBef>
                <a:spcPts val="95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dirty="0" sz="1000" spc="-3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Integration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Testing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dirty="0" spc="-20"/>
              <a:t>8</a:t>
            </a:fld>
            <a:r>
              <a:rPr dirty="0" spc="-20"/>
              <a:t>/10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384276" y="2775788"/>
            <a:ext cx="4991735" cy="3295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32205" marR="5080" indent="-1120140">
              <a:lnSpc>
                <a:spcPct val="124500"/>
              </a:lnSpc>
              <a:spcBef>
                <a:spcPts val="100"/>
              </a:spcBef>
            </a:pP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C</a:t>
            </a:r>
            <a:r>
              <a:rPr dirty="0" sz="800" spc="1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114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were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5">
                <a:solidFill>
                  <a:srgbClr val="595959"/>
                </a:solidFill>
                <a:latin typeface="Arial"/>
                <a:cs typeface="Arial"/>
              </a:rPr>
              <a:t>selected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apply</a:t>
            </a:r>
            <a:r>
              <a:rPr dirty="0" sz="800" spc="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OOP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20">
                <a:solidFill>
                  <a:srgbClr val="595959"/>
                </a:solidFill>
                <a:latin typeface="Arial"/>
                <a:cs typeface="Arial"/>
              </a:rPr>
              <a:t>concepts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directly,</a:t>
            </a:r>
            <a:r>
              <a:rPr dirty="0" sz="800" spc="2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while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modular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development</a:t>
            </a:r>
            <a:r>
              <a:rPr dirty="0" sz="800" spc="2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approach supports</a:t>
            </a:r>
            <a:r>
              <a:rPr dirty="0" sz="800" spc="35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systematic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implementation,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integration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4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>
                <a:solidFill>
                  <a:srgbClr val="595959"/>
                </a:solidFill>
                <a:latin typeface="Arial"/>
                <a:cs typeface="Arial"/>
              </a:rPr>
              <a:t>testing.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 spd="fast">
    <p:cut thruBlk="0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65"/>
              <a:t>Initial</a:t>
            </a:r>
            <a:r>
              <a:rPr dirty="0" spc="5"/>
              <a:t> </a:t>
            </a:r>
            <a:r>
              <a:rPr dirty="0" spc="-60"/>
              <a:t>Progress</a:t>
            </a:r>
            <a:r>
              <a:rPr dirty="0" spc="5"/>
              <a:t> </a:t>
            </a:r>
            <a:r>
              <a:rPr dirty="0" spc="85"/>
              <a:t>&amp;</a:t>
            </a:r>
            <a:r>
              <a:rPr dirty="0" spc="10"/>
              <a:t> </a:t>
            </a:r>
            <a:r>
              <a:rPr dirty="0" spc="-25"/>
              <a:t>Team</a:t>
            </a:r>
            <a:r>
              <a:rPr dirty="0" spc="5"/>
              <a:t> </a:t>
            </a:r>
            <a:r>
              <a:rPr dirty="0" spc="-50"/>
              <a:t>Contribution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21894" y="902493"/>
            <a:ext cx="2252345" cy="210058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dirty="0" sz="1000" spc="-60" b="1">
                <a:solidFill>
                  <a:srgbClr val="133768"/>
                </a:solidFill>
                <a:latin typeface="Tahoma"/>
                <a:cs typeface="Tahoma"/>
              </a:rPr>
              <a:t>Progress</a:t>
            </a:r>
            <a:r>
              <a:rPr dirty="0" sz="1000" spc="20" b="1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dirty="0" sz="1000" spc="-10" b="1">
                <a:solidFill>
                  <a:srgbClr val="133768"/>
                </a:solidFill>
                <a:latin typeface="Tahoma"/>
                <a:cs typeface="Tahoma"/>
              </a:rPr>
              <a:t>Achieved</a:t>
            </a:r>
            <a:endParaRPr sz="1000">
              <a:latin typeface="Tahoma"/>
              <a:cs typeface="Tahoma"/>
            </a:endParaRPr>
          </a:p>
          <a:p>
            <a:pPr marL="314960" marR="158750" indent="-168275">
              <a:lnSpc>
                <a:spcPct val="100000"/>
              </a:lnSpc>
              <a:spcBef>
                <a:spcPts val="5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3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Project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requirements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existing </a:t>
            </a:r>
            <a:r>
              <a:rPr dirty="0" sz="1000" spc="-35">
                <a:latin typeface="Tahoma"/>
                <a:cs typeface="Tahoma"/>
              </a:rPr>
              <a:t>examination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process</a:t>
            </a:r>
            <a:r>
              <a:rPr dirty="0" sz="1000" spc="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studied</a:t>
            </a:r>
            <a:endParaRPr sz="1000">
              <a:latin typeface="Tahoma"/>
              <a:cs typeface="Tahoma"/>
            </a:endParaRPr>
          </a:p>
          <a:p>
            <a:pPr marL="314960" marR="419734" indent="-168275">
              <a:lnSpc>
                <a:spcPct val="100000"/>
              </a:lnSpc>
              <a:spcBef>
                <a:spcPts val="1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25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35">
                <a:latin typeface="Tahoma"/>
                <a:cs typeface="Tahoma"/>
              </a:rPr>
              <a:t>System</a:t>
            </a:r>
            <a:r>
              <a:rPr dirty="0" sz="1000" spc="-2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objectives</a:t>
            </a:r>
            <a:r>
              <a:rPr dirty="0" sz="1000" spc="-25">
                <a:latin typeface="Tahoma"/>
                <a:cs typeface="Tahoma"/>
              </a:rPr>
              <a:t> and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30">
                <a:latin typeface="Tahoma"/>
                <a:cs typeface="Tahoma"/>
              </a:rPr>
              <a:t>major </a:t>
            </a:r>
            <a:r>
              <a:rPr dirty="0" sz="1000" spc="-35">
                <a:latin typeface="Tahoma"/>
                <a:cs typeface="Tahoma"/>
              </a:rPr>
              <a:t>modules</a:t>
            </a:r>
            <a:r>
              <a:rPr dirty="0" sz="1000" spc="-4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identified</a:t>
            </a:r>
            <a:endParaRPr sz="1000">
              <a:latin typeface="Tahoma"/>
              <a:cs typeface="Tahoma"/>
            </a:endParaRPr>
          </a:p>
          <a:p>
            <a:pPr marL="314960" marR="30480" indent="-168275">
              <a:lnSpc>
                <a:spcPct val="100000"/>
              </a:lnSpc>
              <a:spcBef>
                <a:spcPts val="1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35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>
                <a:latin typeface="Tahoma"/>
                <a:cs typeface="Tahoma"/>
              </a:rPr>
              <a:t>DSA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>
                <a:latin typeface="Tahoma"/>
                <a:cs typeface="Tahoma"/>
              </a:rPr>
              <a:t>OOP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concepts</a:t>
            </a:r>
            <a:r>
              <a:rPr dirty="0" sz="1000" spc="25">
                <a:latin typeface="Tahoma"/>
                <a:cs typeface="Tahoma"/>
              </a:rPr>
              <a:t> </a:t>
            </a:r>
            <a:r>
              <a:rPr dirty="0" sz="1000" spc="-45">
                <a:latin typeface="Tahoma"/>
                <a:cs typeface="Tahoma"/>
              </a:rPr>
              <a:t>mapped</a:t>
            </a:r>
            <a:r>
              <a:rPr dirty="0" sz="1000" spc="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to </a:t>
            </a:r>
            <a:r>
              <a:rPr dirty="0" sz="1000" spc="-30">
                <a:latin typeface="Tahoma"/>
                <a:cs typeface="Tahoma"/>
              </a:rPr>
              <a:t>project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requirements</a:t>
            </a:r>
            <a:endParaRPr sz="1000">
              <a:latin typeface="Tahoma"/>
              <a:cs typeface="Tahoma"/>
            </a:endParaRPr>
          </a:p>
          <a:p>
            <a:pPr marL="314960" marR="298450" indent="-168275">
              <a:lnSpc>
                <a:spcPct val="100000"/>
              </a:lnSpc>
              <a:spcBef>
                <a:spcPts val="190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47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Student,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35">
                <a:latin typeface="Tahoma"/>
                <a:cs typeface="Tahoma"/>
              </a:rPr>
              <a:t>teacher,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20">
                <a:latin typeface="Tahoma"/>
                <a:cs typeface="Tahoma"/>
              </a:rPr>
              <a:t>room</a:t>
            </a:r>
            <a:r>
              <a:rPr dirty="0" sz="1000" spc="-1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 </a:t>
            </a:r>
            <a:r>
              <a:rPr dirty="0" sz="1000" spc="-35">
                <a:latin typeface="Tahoma"/>
                <a:cs typeface="Tahoma"/>
              </a:rPr>
              <a:t>examination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data</a:t>
            </a:r>
            <a:r>
              <a:rPr dirty="0" sz="1000" spc="-20">
                <a:latin typeface="Tahoma"/>
                <a:cs typeface="Tahoma"/>
              </a:rPr>
              <a:t> </a:t>
            </a:r>
            <a:r>
              <a:rPr dirty="0" sz="1000" spc="-50">
                <a:latin typeface="Tahoma"/>
                <a:cs typeface="Tahoma"/>
              </a:rPr>
              <a:t>requirements </a:t>
            </a:r>
            <a:r>
              <a:rPr dirty="0" sz="1000" spc="-10">
                <a:latin typeface="Tahoma"/>
                <a:cs typeface="Tahoma"/>
              </a:rPr>
              <a:t>defined</a:t>
            </a:r>
            <a:endParaRPr sz="1000">
              <a:latin typeface="Tahoma"/>
              <a:cs typeface="Tahoma"/>
            </a:endParaRPr>
          </a:p>
          <a:p>
            <a:pPr marL="314960" marR="351790" indent="-168275">
              <a:lnSpc>
                <a:spcPct val="100000"/>
              </a:lnSpc>
              <a:spcBef>
                <a:spcPts val="185"/>
              </a:spcBef>
            </a:pPr>
            <a:r>
              <a:rPr dirty="0" baseline="5555" sz="1500">
                <a:solidFill>
                  <a:srgbClr val="133768"/>
                </a:solidFill>
                <a:latin typeface="Lucida Sans Unicode"/>
                <a:cs typeface="Lucida Sans Unicode"/>
              </a:rPr>
              <a:t>▶</a:t>
            </a:r>
            <a:r>
              <a:rPr dirty="0" baseline="5555" sz="1500" spc="202">
                <a:solidFill>
                  <a:srgbClr val="133768"/>
                </a:solidFill>
                <a:latin typeface="Lucida Sans Unicode"/>
                <a:cs typeface="Lucida Sans Unicode"/>
              </a:rPr>
              <a:t> </a:t>
            </a:r>
            <a:r>
              <a:rPr dirty="0" sz="1000" spc="-25">
                <a:latin typeface="Tahoma"/>
                <a:cs typeface="Tahoma"/>
              </a:rPr>
              <a:t>Seating</a:t>
            </a:r>
            <a:r>
              <a:rPr dirty="0" sz="1000" spc="-40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allocation</a:t>
            </a:r>
            <a:r>
              <a:rPr dirty="0" sz="1000" spc="-30">
                <a:latin typeface="Tahoma"/>
                <a:cs typeface="Tahoma"/>
              </a:rPr>
              <a:t> </a:t>
            </a:r>
            <a:r>
              <a:rPr dirty="0" sz="1000" spc="-25">
                <a:latin typeface="Tahoma"/>
                <a:cs typeface="Tahoma"/>
              </a:rPr>
              <a:t>and</a:t>
            </a:r>
            <a:r>
              <a:rPr dirty="0" sz="1000" spc="-35">
                <a:latin typeface="Tahoma"/>
                <a:cs typeface="Tahoma"/>
              </a:rPr>
              <a:t> system </a:t>
            </a:r>
            <a:r>
              <a:rPr dirty="0" sz="1000" spc="-40">
                <a:latin typeface="Tahoma"/>
                <a:cs typeface="Tahoma"/>
              </a:rPr>
              <a:t>workflow</a:t>
            </a:r>
            <a:r>
              <a:rPr dirty="0" sz="1000" spc="-15">
                <a:latin typeface="Tahoma"/>
                <a:cs typeface="Tahoma"/>
              </a:rPr>
              <a:t> </a:t>
            </a:r>
            <a:r>
              <a:rPr dirty="0" sz="1000" spc="-10">
                <a:latin typeface="Tahoma"/>
                <a:cs typeface="Tahoma"/>
              </a:rPr>
              <a:t>planned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66479" y="951689"/>
            <a:ext cx="2646680" cy="34734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  <a:tabLst>
                <a:tab pos="2633345" algn="l"/>
              </a:tabLst>
            </a:pPr>
            <a:r>
              <a:rPr dirty="0" u="sng" sz="1000" spc="-70" b="1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Individual</a:t>
            </a:r>
            <a:r>
              <a:rPr dirty="0" u="sng" sz="1000" b="1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dirty="0" u="sng" sz="1000" spc="-10" b="1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Contribution</a:t>
            </a:r>
            <a:r>
              <a:rPr dirty="0" u="sng" sz="1000" b="1">
                <a:solidFill>
                  <a:srgbClr val="133768"/>
                </a:solidFill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	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  <a:tabLst>
                <a:tab pos="812165" algn="l"/>
                <a:tab pos="1684020" algn="l"/>
              </a:tabLst>
            </a:pPr>
            <a:r>
              <a:rPr dirty="0" sz="800" spc="-10">
                <a:latin typeface="Arial"/>
                <a:cs typeface="Arial"/>
              </a:rPr>
              <a:t>Member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20">
                <a:latin typeface="Arial"/>
                <a:cs typeface="Arial"/>
              </a:rPr>
              <a:t>Role</a:t>
            </a:r>
            <a:r>
              <a:rPr dirty="0" sz="800">
                <a:latin typeface="Arial"/>
                <a:cs typeface="Arial"/>
              </a:rPr>
              <a:t>	</a:t>
            </a:r>
            <a:r>
              <a:rPr dirty="0" sz="800" spc="-10">
                <a:latin typeface="Arial"/>
                <a:cs typeface="Arial"/>
              </a:rPr>
              <a:t>Contribution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79179" y="1329689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766479" y="1343391"/>
            <a:ext cx="1038860" cy="2673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  <a:tabLst>
                <a:tab pos="812165" algn="l"/>
              </a:tabLst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M1</a:t>
            </a:r>
            <a:r>
              <a:rPr dirty="0" sz="800" spc="2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800" spc="27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Shreeya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45" i="1">
                <a:solidFill>
                  <a:srgbClr val="595959"/>
                </a:solidFill>
                <a:latin typeface="Arial"/>
                <a:cs typeface="Arial"/>
              </a:rPr>
              <a:t>Lead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Sharma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38264" y="1343391"/>
            <a:ext cx="9747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8320" algn="l"/>
              </a:tabLst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Seating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allocation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8141" y="1463597"/>
            <a:ext cx="975360" cy="7480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 marR="5080">
              <a:lnSpc>
                <a:spcPts val="950"/>
              </a:lnSpc>
              <a:spcBef>
                <a:spcPts val="1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logic,</a:t>
            </a:r>
            <a:r>
              <a:rPr dirty="0" sz="800" spc="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spc="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structures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44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searching</a:t>
            </a:r>
            <a:r>
              <a:rPr dirty="0" sz="800" spc="44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sorting</a:t>
            </a:r>
            <a:endParaRPr sz="800">
              <a:latin typeface="Arial"/>
              <a:cs typeface="Arial"/>
            </a:endParaRPr>
          </a:p>
          <a:p>
            <a:pPr algn="just" marL="12700">
              <a:lnSpc>
                <a:spcPts val="905"/>
              </a:lnSpc>
            </a:pPr>
            <a:r>
              <a:rPr dirty="0" sz="800" spc="114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z="800" spc="6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classes,</a:t>
            </a:r>
            <a:r>
              <a:rPr dirty="0" sz="800" spc="7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endParaRPr sz="800">
              <a:latin typeface="Arial"/>
              <a:cs typeface="Arial"/>
            </a:endParaRPr>
          </a:p>
          <a:p>
            <a:pPr algn="just" marL="12700" marR="5715">
              <a:lnSpc>
                <a:spcPts val="950"/>
              </a:lnSpc>
              <a:spcBef>
                <a:spcPts val="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logic, interface </a:t>
            </a:r>
            <a:r>
              <a:rPr dirty="0" sz="800" spc="-35" i="1">
                <a:solidFill>
                  <a:srgbClr val="595959"/>
                </a:solidFill>
                <a:latin typeface="Arial"/>
                <a:cs typeface="Arial"/>
              </a:rPr>
              <a:t>de-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sign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66479" y="1824188"/>
            <a:ext cx="5289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M2</a:t>
            </a:r>
            <a:r>
              <a:rPr dirty="0" sz="800" spc="9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800" spc="9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Rincy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66402" y="1824188"/>
            <a:ext cx="745490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OOPS,Frontend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66479" y="2184792"/>
            <a:ext cx="1034415" cy="5080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  <a:tabLst>
                <a:tab pos="812165" algn="l"/>
              </a:tabLst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M3</a:t>
            </a:r>
            <a:r>
              <a:rPr dirty="0" sz="800" spc="409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800" spc="409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Inakshi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DSA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 Bahukhandi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05"/>
              </a:lnSpc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M4</a:t>
            </a:r>
            <a:r>
              <a:rPr dirty="0" sz="800" spc="254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-</a:t>
            </a:r>
            <a:r>
              <a:rPr dirty="0" sz="800" spc="254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Saumya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955"/>
              </a:lnSpc>
            </a:pP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Jha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38112" y="2184792"/>
            <a:ext cx="97472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7985" algn="l"/>
              </a:tabLst>
            </a:pP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management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37920" y="2304985"/>
            <a:ext cx="975360" cy="508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>
              <a:lnSpc>
                <a:spcPts val="955"/>
              </a:lnSpc>
              <a:spcBef>
                <a:spcPts val="9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-2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hashing</a:t>
            </a:r>
            <a:endParaRPr sz="800">
              <a:latin typeface="Arial"/>
              <a:cs typeface="Arial"/>
            </a:endParaRPr>
          </a:p>
          <a:p>
            <a:pPr algn="just" marL="12700" marR="5080" indent="-635">
              <a:lnSpc>
                <a:spcPts val="950"/>
              </a:lnSpc>
              <a:spcBef>
                <a:spcPts val="35"/>
              </a:spcBef>
            </a:pP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Backend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module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de-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velopment</a:t>
            </a:r>
            <a:r>
              <a:rPr dirty="0" sz="800" spc="-6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i="1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dirty="0" sz="800" spc="-55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docu-mentation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66312" y="2425190"/>
            <a:ext cx="694055" cy="147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800" spc="-10" i="1">
                <a:solidFill>
                  <a:srgbClr val="595959"/>
                </a:solidFill>
                <a:latin typeface="Arial"/>
                <a:cs typeface="Arial"/>
              </a:rPr>
              <a:t>Backend,</a:t>
            </a:r>
            <a:r>
              <a:rPr dirty="0" sz="800" spc="-20" i="1">
                <a:solidFill>
                  <a:srgbClr val="595959"/>
                </a:solidFill>
                <a:latin typeface="Arial"/>
                <a:cs typeface="Arial"/>
              </a:rPr>
              <a:t> Docs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79179" y="2845739"/>
            <a:ext cx="2621280" cy="0"/>
          </a:xfrm>
          <a:custGeom>
            <a:avLst/>
            <a:gdLst/>
            <a:ahLst/>
            <a:cxnLst/>
            <a:rect l="l" t="t" r="r" b="b"/>
            <a:pathLst>
              <a:path w="2621279" h="0">
                <a:moveTo>
                  <a:pt x="0" y="0"/>
                </a:moveTo>
                <a:lnTo>
                  <a:pt x="2620822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77470">
              <a:lnSpc>
                <a:spcPts val="675"/>
              </a:lnSpc>
            </a:pPr>
            <a:fld id="{81D60167-4931-47E6-BA6A-407CBD079E47}" type="slidenum">
              <a:rPr dirty="0" spc="-20"/>
              <a:t>8</a:t>
            </a:fld>
            <a:r>
              <a:rPr dirty="0" spc="-20"/>
              <a:t>/10</a:t>
            </a:r>
          </a:p>
        </p:txBody>
      </p:sp>
    </p:spTree>
  </p:cSld>
  <p:clrMapOvr>
    <a:masterClrMapping/>
  </p:clrMapOvr>
  <p:transition spd="fast">
    <p:cut thruBlk="0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45"/>
              <a:t>Roadmap,</a:t>
            </a:r>
            <a:r>
              <a:rPr dirty="0" spc="10"/>
              <a:t> </a:t>
            </a:r>
            <a:r>
              <a:rPr dirty="0" spc="-40"/>
              <a:t>Expected</a:t>
            </a:r>
            <a:r>
              <a:rPr dirty="0" spc="10"/>
              <a:t> </a:t>
            </a:r>
            <a:r>
              <a:rPr dirty="0" spc="-45"/>
              <a:t>Outcomes</a:t>
            </a:r>
            <a:r>
              <a:rPr dirty="0" spc="15"/>
              <a:t> </a:t>
            </a:r>
            <a:r>
              <a:rPr dirty="0" spc="85"/>
              <a:t>&amp;</a:t>
            </a:r>
            <a:r>
              <a:rPr dirty="0" spc="10"/>
              <a:t> </a:t>
            </a:r>
            <a:r>
              <a:rPr dirty="0" spc="-75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 h="0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515"/>
              </a:spcBef>
            </a:pPr>
            <a:r>
              <a:rPr dirty="0" spc="-10"/>
              <a:t>Roadmap</a:t>
            </a:r>
          </a:p>
          <a:p>
            <a:pPr marL="327660" marR="35560" indent="-160655">
              <a:lnSpc>
                <a:spcPct val="101499"/>
              </a:lnSpc>
              <a:spcBef>
                <a:spcPts val="395"/>
              </a:spcBef>
              <a:buClr>
                <a:srgbClr val="133768"/>
              </a:buClr>
              <a:buAutoNum type="arabicPeriod"/>
              <a:tabLst>
                <a:tab pos="327660" algn="l"/>
              </a:tabLst>
            </a:pPr>
            <a:r>
              <a:rPr dirty="0" spc="-45" b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I:</a:t>
            </a:r>
            <a:r>
              <a:rPr dirty="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20" b="0">
                <a:solidFill>
                  <a:srgbClr val="000000"/>
                </a:solidFill>
                <a:latin typeface="Tahoma"/>
                <a:cs typeface="Tahoma"/>
              </a:rPr>
              <a:t>Identify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20" b="0">
                <a:solidFill>
                  <a:srgbClr val="000000"/>
                </a:solidFill>
                <a:latin typeface="Tahoma"/>
                <a:cs typeface="Tahoma"/>
              </a:rPr>
              <a:t>Requirements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and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20" b="0">
                <a:solidFill>
                  <a:srgbClr val="000000"/>
                </a:solidFill>
                <a:latin typeface="Tahoma"/>
                <a:cs typeface="Tahoma"/>
              </a:rPr>
              <a:t>Design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the</a:t>
            </a:r>
            <a:r>
              <a:rPr dirty="0" spc="-4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System</a:t>
            </a:r>
          </a:p>
          <a:p>
            <a:pPr marL="327660" marR="294640" indent="-160655">
              <a:lnSpc>
                <a:spcPct val="101499"/>
              </a:lnSpc>
              <a:spcBef>
                <a:spcPts val="100"/>
              </a:spcBef>
              <a:buClr>
                <a:srgbClr val="133768"/>
              </a:buClr>
              <a:buAutoNum type="arabicPeriod"/>
              <a:tabLst>
                <a:tab pos="327660" algn="l"/>
              </a:tabLst>
            </a:pPr>
            <a:r>
              <a:rPr dirty="0" spc="-40" b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dirty="0" spc="-30" b="0">
                <a:solidFill>
                  <a:srgbClr val="000000"/>
                </a:solidFill>
                <a:latin typeface="Tahoma"/>
                <a:cs typeface="Tahoma"/>
              </a:rPr>
              <a:t>II:</a:t>
            </a:r>
            <a:r>
              <a:rPr dirty="0" spc="6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Build</a:t>
            </a:r>
            <a:r>
              <a:rPr dirty="0" spc="6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DSA</a:t>
            </a:r>
            <a:r>
              <a:rPr dirty="0" spc="6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and</a:t>
            </a:r>
            <a:r>
              <a:rPr dirty="0" spc="6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OOP-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Based Modules</a:t>
            </a:r>
          </a:p>
          <a:p>
            <a:pPr marL="327660" marR="145415" indent="-160655">
              <a:lnSpc>
                <a:spcPct val="101499"/>
              </a:lnSpc>
              <a:spcBef>
                <a:spcPts val="100"/>
              </a:spcBef>
              <a:buClr>
                <a:srgbClr val="133768"/>
              </a:buClr>
              <a:buAutoNum type="arabicPeriod"/>
              <a:tabLst>
                <a:tab pos="327660" algn="l"/>
              </a:tabLst>
            </a:pPr>
            <a:r>
              <a:rPr dirty="0" spc="-40" b="0">
                <a:solidFill>
                  <a:srgbClr val="000000"/>
                </a:solidFill>
                <a:latin typeface="Tahoma"/>
                <a:cs typeface="Tahoma"/>
              </a:rPr>
              <a:t>Phase-</a:t>
            </a:r>
            <a:r>
              <a:rPr dirty="0" spc="-35" b="0">
                <a:solidFill>
                  <a:srgbClr val="000000"/>
                </a:solidFill>
                <a:latin typeface="Tahoma"/>
                <a:cs typeface="Tahoma"/>
              </a:rPr>
              <a:t>III:</a:t>
            </a:r>
            <a:r>
              <a:rPr dirty="0" spc="-25" b="0">
                <a:solidFill>
                  <a:srgbClr val="000000"/>
                </a:solidFill>
                <a:latin typeface="Tahoma"/>
                <a:cs typeface="Tahoma"/>
              </a:rPr>
              <a:t> Integrate,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Test</a:t>
            </a:r>
            <a:r>
              <a:rPr dirty="0" spc="-2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and</a:t>
            </a:r>
            <a:r>
              <a:rPr dirty="0" spc="-2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Refine</a:t>
            </a:r>
            <a:r>
              <a:rPr dirty="0" spc="-25" b="0">
                <a:solidFill>
                  <a:srgbClr val="000000"/>
                </a:solidFill>
                <a:latin typeface="Tahoma"/>
                <a:cs typeface="Tahoma"/>
              </a:rPr>
              <a:t> the 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System</a:t>
            </a:r>
          </a:p>
          <a:p>
            <a:pPr marL="50800">
              <a:lnSpc>
                <a:spcPct val="100000"/>
              </a:lnSpc>
              <a:spcBef>
                <a:spcPts val="700"/>
              </a:spcBef>
            </a:pPr>
            <a:r>
              <a:rPr dirty="0" spc="-45"/>
              <a:t>Expected</a:t>
            </a:r>
            <a:r>
              <a:rPr dirty="0" spc="20"/>
              <a:t> </a:t>
            </a:r>
            <a:r>
              <a:rPr dirty="0" spc="-10"/>
              <a:t>Outcomes</a:t>
            </a:r>
          </a:p>
          <a:p>
            <a:pPr marL="169545">
              <a:lnSpc>
                <a:spcPct val="100000"/>
              </a:lnSpc>
              <a:spcBef>
                <a:spcPts val="414"/>
              </a:spcBef>
            </a:pPr>
            <a:r>
              <a:rPr dirty="0" baseline="6172" sz="1350" b="0">
                <a:latin typeface="Lucida Sans Unicode"/>
                <a:cs typeface="Lucida Sans Unicode"/>
              </a:rPr>
              <a:t>▶</a:t>
            </a:r>
            <a:r>
              <a:rPr dirty="0" baseline="6172" sz="1350" spc="254" b="0">
                <a:latin typeface="Lucida Sans Unicode"/>
                <a:cs typeface="Lucida Sans Unicode"/>
              </a:rPr>
              <a:t> </a:t>
            </a:r>
            <a:r>
              <a:rPr dirty="0" sz="900" spc="-10" b="0">
                <a:solidFill>
                  <a:srgbClr val="000000"/>
                </a:solidFill>
                <a:latin typeface="Tahoma"/>
                <a:cs typeface="Tahoma"/>
              </a:rPr>
              <a:t>Faster</a:t>
            </a:r>
            <a:r>
              <a:rPr dirty="0" sz="90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b="0">
                <a:solidFill>
                  <a:srgbClr val="000000"/>
                </a:solidFill>
                <a:latin typeface="Tahoma"/>
                <a:cs typeface="Tahoma"/>
              </a:rPr>
              <a:t>and</a:t>
            </a:r>
            <a:r>
              <a:rPr dirty="0" sz="900" spc="-25" b="0">
                <a:solidFill>
                  <a:srgbClr val="000000"/>
                </a:solidFill>
                <a:latin typeface="Tahoma"/>
                <a:cs typeface="Tahoma"/>
              </a:rPr>
              <a:t> rule-</a:t>
            </a:r>
            <a:r>
              <a:rPr dirty="0" sz="900" spc="-30" b="0">
                <a:solidFill>
                  <a:srgbClr val="000000"/>
                </a:solidFill>
                <a:latin typeface="Tahoma"/>
                <a:cs typeface="Tahoma"/>
              </a:rPr>
              <a:t>based</a:t>
            </a:r>
            <a:r>
              <a:rPr dirty="0" sz="900" spc="-2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000000"/>
                </a:solidFill>
                <a:latin typeface="Tahoma"/>
                <a:cs typeface="Tahoma"/>
              </a:rPr>
              <a:t>seat</a:t>
            </a:r>
            <a:r>
              <a:rPr dirty="0" sz="900" spc="-2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spc="-10" b="0">
                <a:solidFill>
                  <a:srgbClr val="000000"/>
                </a:solidFill>
                <a:latin typeface="Tahoma"/>
                <a:cs typeface="Tahoma"/>
              </a:rPr>
              <a:t>allocation</a:t>
            </a:r>
            <a:endParaRPr sz="900">
              <a:latin typeface="Tahoma"/>
              <a:cs typeface="Tahoma"/>
            </a:endParaRPr>
          </a:p>
          <a:p>
            <a:pPr marL="327660" marR="125730" indent="-158115">
              <a:lnSpc>
                <a:spcPct val="101499"/>
              </a:lnSpc>
              <a:spcBef>
                <a:spcPts val="95"/>
              </a:spcBef>
            </a:pPr>
            <a:r>
              <a:rPr dirty="0" baseline="6172" sz="1350" b="0">
                <a:latin typeface="Lucida Sans Unicode"/>
                <a:cs typeface="Lucida Sans Unicode"/>
              </a:rPr>
              <a:t>▶</a:t>
            </a:r>
            <a:r>
              <a:rPr dirty="0" baseline="6172" sz="1350" spc="270" b="0">
                <a:latin typeface="Lucida Sans Unicode"/>
                <a:cs typeface="Lucida Sans Unicode"/>
              </a:rPr>
              <a:t> </a:t>
            </a:r>
            <a:r>
              <a:rPr dirty="0" sz="900" spc="-25" b="0">
                <a:solidFill>
                  <a:srgbClr val="000000"/>
                </a:solidFill>
                <a:latin typeface="Tahoma"/>
                <a:cs typeface="Tahoma"/>
              </a:rPr>
              <a:t>Separate</a:t>
            </a:r>
            <a:r>
              <a:rPr dirty="0" sz="9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spc="-25" b="0">
                <a:solidFill>
                  <a:srgbClr val="000000"/>
                </a:solidFill>
                <a:latin typeface="Tahoma"/>
                <a:cs typeface="Tahoma"/>
              </a:rPr>
              <a:t>access</a:t>
            </a:r>
            <a:r>
              <a:rPr dirty="0" sz="90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b="0">
                <a:solidFill>
                  <a:srgbClr val="000000"/>
                </a:solidFill>
                <a:latin typeface="Tahoma"/>
                <a:cs typeface="Tahoma"/>
              </a:rPr>
              <a:t>for</a:t>
            </a:r>
            <a:r>
              <a:rPr dirty="0" sz="900" spc="-20" b="0">
                <a:solidFill>
                  <a:srgbClr val="000000"/>
                </a:solidFill>
                <a:latin typeface="Tahoma"/>
                <a:cs typeface="Tahoma"/>
              </a:rPr>
              <a:t> students,</a:t>
            </a:r>
            <a:r>
              <a:rPr dirty="0" sz="9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b="0">
                <a:solidFill>
                  <a:srgbClr val="000000"/>
                </a:solidFill>
                <a:latin typeface="Tahoma"/>
                <a:cs typeface="Tahoma"/>
              </a:rPr>
              <a:t>faculty</a:t>
            </a:r>
            <a:r>
              <a:rPr dirty="0" sz="900" spc="-2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spc="-25" b="0">
                <a:solidFill>
                  <a:srgbClr val="000000"/>
                </a:solidFill>
                <a:latin typeface="Tahoma"/>
                <a:cs typeface="Tahoma"/>
              </a:rPr>
              <a:t>and </a:t>
            </a:r>
            <a:r>
              <a:rPr dirty="0" sz="900" spc="-10" b="0">
                <a:solidFill>
                  <a:srgbClr val="000000"/>
                </a:solidFill>
                <a:latin typeface="Tahoma"/>
                <a:cs typeface="Tahoma"/>
              </a:rPr>
              <a:t>administrators</a:t>
            </a:r>
            <a:endParaRPr sz="900">
              <a:latin typeface="Tahoma"/>
              <a:cs typeface="Tahoma"/>
            </a:endParaRPr>
          </a:p>
          <a:p>
            <a:pPr marL="169545">
              <a:lnSpc>
                <a:spcPct val="100000"/>
              </a:lnSpc>
              <a:spcBef>
                <a:spcPts val="114"/>
              </a:spcBef>
            </a:pPr>
            <a:r>
              <a:rPr dirty="0" baseline="6172" sz="1350" b="0">
                <a:latin typeface="Lucida Sans Unicode"/>
                <a:cs typeface="Lucida Sans Unicode"/>
              </a:rPr>
              <a:t>▶</a:t>
            </a:r>
            <a:r>
              <a:rPr dirty="0" baseline="6172" sz="1350" spc="277" b="0">
                <a:latin typeface="Lucida Sans Unicode"/>
                <a:cs typeface="Lucida Sans Unicode"/>
              </a:rPr>
              <a:t> </a:t>
            </a:r>
            <a:r>
              <a:rPr dirty="0" sz="900" b="0">
                <a:solidFill>
                  <a:srgbClr val="000000"/>
                </a:solidFill>
                <a:latin typeface="Tahoma"/>
                <a:cs typeface="Tahoma"/>
              </a:rPr>
              <a:t>Automated</a:t>
            </a:r>
            <a:r>
              <a:rPr dirty="0" sz="9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spc="-25" b="0">
                <a:solidFill>
                  <a:srgbClr val="000000"/>
                </a:solidFill>
                <a:latin typeface="Tahoma"/>
                <a:cs typeface="Tahoma"/>
              </a:rPr>
              <a:t>generation</a:t>
            </a:r>
            <a:r>
              <a:rPr dirty="0" sz="9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b="0">
                <a:solidFill>
                  <a:srgbClr val="000000"/>
                </a:solidFill>
                <a:latin typeface="Tahoma"/>
                <a:cs typeface="Tahoma"/>
              </a:rPr>
              <a:t>of</a:t>
            </a:r>
            <a:r>
              <a:rPr dirty="0" sz="9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spc="-20" b="0">
                <a:solidFill>
                  <a:srgbClr val="000000"/>
                </a:solidFill>
                <a:latin typeface="Tahoma"/>
                <a:cs typeface="Tahoma"/>
              </a:rPr>
              <a:t>seating</a:t>
            </a:r>
            <a:r>
              <a:rPr dirty="0" sz="9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b="0">
                <a:solidFill>
                  <a:srgbClr val="000000"/>
                </a:solidFill>
                <a:latin typeface="Tahoma"/>
                <a:cs typeface="Tahoma"/>
              </a:rPr>
              <a:t>and</a:t>
            </a:r>
            <a:r>
              <a:rPr dirty="0" sz="900" spc="-1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z="900" spc="-20" b="0">
                <a:solidFill>
                  <a:srgbClr val="000000"/>
                </a:solidFill>
                <a:latin typeface="Tahoma"/>
                <a:cs typeface="Tahoma"/>
              </a:rPr>
              <a:t>duty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395" y="2878702"/>
            <a:ext cx="584200" cy="140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0"/>
              </a:lnSpc>
            </a:pPr>
            <a:r>
              <a:rPr dirty="0" sz="900" spc="-10">
                <a:latin typeface="Tahoma"/>
                <a:cs typeface="Tahoma"/>
              </a:rPr>
              <a:t>information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93896" y="2905969"/>
            <a:ext cx="1244600" cy="1409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60"/>
              </a:lnSpc>
            </a:pP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Questions </a:t>
            </a:r>
            <a:r>
              <a:rPr dirty="0" sz="900" spc="85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dirty="0" sz="900" spc="-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dirty="0" spc="25"/>
              <a:t> </a:t>
            </a:r>
            <a:r>
              <a:rPr dirty="0"/>
              <a:t>of</a:t>
            </a:r>
            <a:r>
              <a:rPr dirty="0" spc="25"/>
              <a:t> </a:t>
            </a:r>
            <a:r>
              <a:rPr dirty="0"/>
              <a:t>Computer</a:t>
            </a:r>
            <a:r>
              <a:rPr dirty="0" spc="25"/>
              <a:t> </a:t>
            </a:r>
            <a:r>
              <a:rPr dirty="0" spc="-25"/>
              <a:t>Science</a:t>
            </a:r>
            <a:r>
              <a:rPr dirty="0" spc="25"/>
              <a:t> </a:t>
            </a:r>
            <a:r>
              <a:rPr dirty="0" spc="80"/>
              <a:t>&amp;</a:t>
            </a:r>
            <a:r>
              <a:rPr dirty="0" spc="25"/>
              <a:t> </a:t>
            </a:r>
            <a:r>
              <a:rPr dirty="0" spc="-10"/>
              <a:t>Engineering</a:t>
            </a:r>
            <a:r>
              <a:rPr dirty="0" spc="25"/>
              <a:t> </a:t>
            </a:r>
            <a:r>
              <a:rPr dirty="0"/>
              <a:t>—</a:t>
            </a:r>
            <a:r>
              <a:rPr dirty="0" spc="25"/>
              <a:t> </a:t>
            </a:r>
            <a:r>
              <a:rPr dirty="0" spc="-10"/>
              <a:t>Graphic</a:t>
            </a:r>
            <a:r>
              <a:rPr dirty="0" spc="25"/>
              <a:t> </a:t>
            </a:r>
            <a:r>
              <a:rPr dirty="0"/>
              <a:t>Era</a:t>
            </a:r>
            <a:r>
              <a:rPr dirty="0" spc="30"/>
              <a:t> </a:t>
            </a:r>
            <a:r>
              <a:rPr dirty="0" spc="-10"/>
              <a:t>(Deemed</a:t>
            </a:r>
            <a:r>
              <a:rPr dirty="0" spc="25"/>
              <a:t> </a:t>
            </a:r>
            <a:r>
              <a:rPr dirty="0"/>
              <a:t>to</a:t>
            </a:r>
            <a:r>
              <a:rPr dirty="0" spc="25"/>
              <a:t> </a:t>
            </a:r>
            <a:r>
              <a:rPr dirty="0"/>
              <a:t>be</a:t>
            </a:r>
            <a:r>
              <a:rPr dirty="0" spc="25"/>
              <a:t> </a:t>
            </a:r>
            <a:r>
              <a:rPr dirty="0" spc="-10"/>
              <a:t>University)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dirty="0" spc="-10"/>
              <a:t>10</a:t>
            </a:fld>
            <a:r>
              <a:rPr dirty="0" spc="-10"/>
              <a:t>/10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pc="-10"/>
              <a:t>References</a:t>
            </a:r>
          </a:p>
          <a:p>
            <a:pPr marL="255904" marR="43180" indent="-127000">
              <a:lnSpc>
                <a:spcPct val="101499"/>
              </a:lnSpc>
              <a:spcBef>
                <a:spcPts val="395"/>
              </a:spcBef>
              <a:buAutoNum type="arabicPeriod"/>
              <a:tabLst>
                <a:tab pos="289560" algn="l"/>
              </a:tabLst>
            </a:pPr>
            <a:r>
              <a:rPr dirty="0" spc="-25" b="0">
                <a:latin typeface="Tahoma"/>
                <a:cs typeface="Tahoma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  <a:hlinkClick r:id="rId2"/>
              </a:rPr>
              <a:t>https://www.ijfmr.com/research-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  <a:hlinkClick r:id="rId2"/>
              </a:rPr>
              <a:t>	</a:t>
            </a:r>
            <a:r>
              <a:rPr dirty="0" spc="-20" b="0" i="1">
                <a:solidFill>
                  <a:srgbClr val="595959"/>
                </a:solidFill>
                <a:latin typeface="Arial"/>
                <a:cs typeface="Arial"/>
              </a:rPr>
              <a:t>paper.php?id=74289utm</a:t>
            </a:r>
            <a:r>
              <a:rPr dirty="0" spc="8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pc="2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pc="-50" b="0" i="1">
                <a:solidFill>
                  <a:srgbClr val="595959"/>
                </a:solidFill>
                <a:latin typeface="Arial"/>
                <a:cs typeface="Arial"/>
              </a:rPr>
              <a:t>Based</a:t>
            </a:r>
            <a:r>
              <a:rPr dirty="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25" b="0" i="1">
                <a:solidFill>
                  <a:srgbClr val="595959"/>
                </a:solidFill>
                <a:latin typeface="Arial"/>
                <a:cs typeface="Arial"/>
              </a:rPr>
              <a:t>Seating</a:t>
            </a:r>
            <a:r>
              <a:rPr dirty="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20" b="0" i="1">
                <a:solidFill>
                  <a:srgbClr val="595959"/>
                </a:solidFill>
                <a:latin typeface="Arial"/>
                <a:cs typeface="Arial"/>
              </a:rPr>
              <a:t>Arrangement</a:t>
            </a:r>
            <a:r>
              <a:rPr dirty="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25" b="0" i="1">
                <a:solidFill>
                  <a:srgbClr val="595959"/>
                </a:solidFill>
                <a:latin typeface="Arial"/>
                <a:cs typeface="Arial"/>
              </a:rPr>
              <a:t>and </a:t>
            </a:r>
            <a:r>
              <a:rPr dirty="0" spc="-25" b="0" i="1">
                <a:solidFill>
                  <a:srgbClr val="595959"/>
                </a:solidFill>
                <a:latin typeface="Arial"/>
                <a:cs typeface="Arial"/>
              </a:rPr>
              <a:t>	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Scheduling</a:t>
            </a:r>
            <a:r>
              <a:rPr dirty="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dirty="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Authors</a:t>
            </a:r>
            <a:r>
              <a:rPr dirty="0" spc="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pc="1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55" b="0" i="1">
                <a:solidFill>
                  <a:srgbClr val="595959"/>
                </a:solidFill>
                <a:latin typeface="Arial"/>
                <a:cs typeface="Arial"/>
              </a:rPr>
              <a:t>Ayeesha</a:t>
            </a:r>
            <a:r>
              <a:rPr dirty="0" spc="-20" b="0" i="1">
                <a:solidFill>
                  <a:srgbClr val="595959"/>
                </a:solidFill>
                <a:latin typeface="Arial"/>
                <a:cs typeface="Arial"/>
              </a:rPr>
              <a:t> 	Begum</a:t>
            </a:r>
            <a:r>
              <a:rPr dirty="0" spc="-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S,</a:t>
            </a:r>
            <a:r>
              <a:rPr dirty="0" spc="-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Cinithya</a:t>
            </a:r>
            <a:r>
              <a:rPr dirty="0" spc="-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G,</a:t>
            </a:r>
            <a:r>
              <a:rPr dirty="0" spc="-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Meena</a:t>
            </a:r>
            <a:r>
              <a:rPr dirty="0" spc="-1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50" b="0" i="1">
                <a:solidFill>
                  <a:srgbClr val="595959"/>
                </a:solidFill>
                <a:latin typeface="Arial"/>
                <a:cs typeface="Arial"/>
              </a:rPr>
              <a:t>V</a:t>
            </a:r>
          </a:p>
          <a:p>
            <a:pPr marL="289560" marR="5080" indent="-160655">
              <a:lnSpc>
                <a:spcPct val="101499"/>
              </a:lnSpc>
              <a:spcBef>
                <a:spcPts val="1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Herbert</a:t>
            </a:r>
            <a:r>
              <a:rPr dirty="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Schildt,</a:t>
            </a:r>
            <a:r>
              <a:rPr dirty="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100" b="0" i="1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dirty="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:</a:t>
            </a:r>
            <a:r>
              <a:rPr dirty="0" spc="11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dirty="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Complete</a:t>
            </a:r>
            <a:r>
              <a:rPr dirty="0" spc="-3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40" b="0" i="1">
                <a:solidFill>
                  <a:srgbClr val="595959"/>
                </a:solidFill>
                <a:latin typeface="Arial"/>
                <a:cs typeface="Arial"/>
              </a:rPr>
              <a:t>Reference,</a:t>
            </a:r>
            <a:r>
              <a:rPr dirty="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4th</a:t>
            </a:r>
            <a:r>
              <a:rPr dirty="0" spc="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Edition,</a:t>
            </a:r>
            <a:r>
              <a:rPr dirty="0" spc="2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20" b="0" i="1">
                <a:solidFill>
                  <a:srgbClr val="595959"/>
                </a:solidFill>
                <a:latin typeface="Arial"/>
                <a:cs typeface="Arial"/>
              </a:rPr>
              <a:t>McGraw</a:t>
            </a:r>
            <a:r>
              <a:rPr dirty="0" spc="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Hill.</a:t>
            </a:r>
          </a:p>
          <a:p>
            <a:pPr marL="290195" indent="-161290">
              <a:lnSpc>
                <a:spcPct val="100000"/>
              </a:lnSpc>
              <a:spcBef>
                <a:spcPts val="114"/>
              </a:spcBef>
              <a:buClr>
                <a:srgbClr val="133768"/>
              </a:buClr>
              <a:buAutoNum type="arabicPeriod"/>
              <a:tabLst>
                <a:tab pos="290195" algn="l"/>
              </a:tabLst>
            </a:pPr>
            <a:r>
              <a:rPr dirty="0" spc="60" b="0">
                <a:solidFill>
                  <a:srgbClr val="000000"/>
                </a:solidFill>
                <a:latin typeface="Tahoma"/>
                <a:cs typeface="Tahoma"/>
              </a:rPr>
              <a:t>C++</a:t>
            </a:r>
            <a:r>
              <a:rPr dirty="0" spc="-35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Standard</a:t>
            </a:r>
            <a:r>
              <a:rPr dirty="0" spc="-3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b="0">
                <a:solidFill>
                  <a:srgbClr val="000000"/>
                </a:solidFill>
                <a:latin typeface="Tahoma"/>
                <a:cs typeface="Tahoma"/>
              </a:rPr>
              <a:t>Library</a:t>
            </a:r>
            <a:r>
              <a:rPr dirty="0" spc="-30" b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dirty="0" spc="-10" b="0">
                <a:solidFill>
                  <a:srgbClr val="000000"/>
                </a:solidFill>
                <a:latin typeface="Tahoma"/>
                <a:cs typeface="Tahoma"/>
              </a:rPr>
              <a:t>documentation</a:t>
            </a:r>
          </a:p>
          <a:p>
            <a:pPr marL="289560" marR="38100" indent="-160655">
              <a:lnSpc>
                <a:spcPct val="101499"/>
              </a:lnSpc>
              <a:spcBef>
                <a:spcPts val="100"/>
              </a:spcBef>
              <a:buClr>
                <a:srgbClr val="133768"/>
              </a:buClr>
              <a:buFont typeface="Tahoma"/>
              <a:buAutoNum type="arabicPeriod"/>
              <a:tabLst>
                <a:tab pos="289560" algn="l"/>
              </a:tabLst>
            </a:pP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E.</a:t>
            </a:r>
            <a:r>
              <a:rPr dirty="0" spc="2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35" b="0" i="1">
                <a:solidFill>
                  <a:srgbClr val="595959"/>
                </a:solidFill>
                <a:latin typeface="Arial"/>
                <a:cs typeface="Arial"/>
              </a:rPr>
              <a:t>Balagurusamy,</a:t>
            </a:r>
            <a:r>
              <a:rPr dirty="0" spc="30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Object-Oriented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 Programming</a:t>
            </a:r>
            <a:r>
              <a:rPr dirty="0" spc="4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dirty="0" spc="4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75" b="0" i="1">
                <a:solidFill>
                  <a:srgbClr val="595959"/>
                </a:solidFill>
                <a:latin typeface="Arial"/>
                <a:cs typeface="Arial"/>
              </a:rPr>
              <a:t>C++,</a:t>
            </a:r>
            <a:r>
              <a:rPr dirty="0" spc="4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b="0" i="1">
                <a:solidFill>
                  <a:srgbClr val="595959"/>
                </a:solidFill>
                <a:latin typeface="Arial"/>
                <a:cs typeface="Arial"/>
              </a:rPr>
              <a:t>8th</a:t>
            </a:r>
            <a:r>
              <a:rPr dirty="0" spc="45" b="0" i="1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dirty="0" spc="-10" b="0" i="1">
                <a:solidFill>
                  <a:srgbClr val="595959"/>
                </a:solidFill>
                <a:latin typeface="Arial"/>
                <a:cs typeface="Arial"/>
              </a:rPr>
              <a:t>Edition.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253803" y="2748991"/>
            <a:ext cx="1924050" cy="316865"/>
          </a:xfrm>
          <a:prstGeom prst="rect">
            <a:avLst/>
          </a:prstGeom>
          <a:solidFill>
            <a:srgbClr val="133768"/>
          </a:solidFill>
        </p:spPr>
        <p:txBody>
          <a:bodyPr wrap="square" lIns="0" tIns="25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900" spc="-20" b="1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dirty="0" sz="900" spc="-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5" b="1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  <p:transition spd="fast">
    <p:cut thruBlk="0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9595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Automated Exam Seating SystemTeam ID: GEUGreyT079</dc:creator>
  <dc:title>Project-Based Learning [2mm]Phase-I Evaluation</dc:title>
  <dcterms:created xsi:type="dcterms:W3CDTF">2026-09-03T19:35:35Z</dcterms:created>
  <dcterms:modified xsi:type="dcterms:W3CDTF">2026-09-03T19:35:35Z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2026-09-03T00:00:00Z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2026-09-03T00:00:00Z</vt:filetime>
  </property>
  <property fmtid="{D5CDD505-2E9C-101B-9397-08002B2CF9AE}" pid="5" name="PTEX.Fullbanner">
    <vt:lpwstr>This is pdfTeX, Version 3.141592653-2.6-1.40.29 (TeX Live 2026) kpathsea version 6.4.2</vt:lpwstr>
  </property>
  <property fmtid="{D5CDD505-2E9C-101B-9397-08002B2CF9AE}" pid="6" name="Producer">
    <vt:lpwstr>pdfTeX-1.40.29</vt:lpwstr>
  </property>
</Properties>
</file>